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harts/chart8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  <p:embeddedFontLst>
    <p:embeddedFont>
      <p:font typeface="Mi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1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charts/chart8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v>share</c:v>
          </c:tx>
          <c:spPr>
            <a:solidFill>
              <a:srgbClr val="1783FF"/>
            </a:solidFill>
            <a:ln w="12700">
              <a:solidFill>
                <a:srgbClr val="FFFFFF"/>
              </a:solidFill>
            </a:ln>
          </c:spPr>
          <c:dLbls>
            <c:numFmt formatCode="0.0%" sourceLinked="0"/>
            <c:txPr>
              <a:bodyPr/>
              <a:lstStyle/>
              <a:p>
                <a:pPr>
                  <a:defRPr sz="1400" noProof="1" b="0" i="0" u="none" strike="noStrike">
                    <a:solidFill>
                      <a:srgbClr val="0B1F33"/>
                    </a:solidFill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1769AA"/>
              </a:solidFill>
              <a:ln>
                <a:noFill/>
              </a:ln>
            </c:spPr>
          </c:dPt>
          <c:dPt>
            <c:idx val="1"/>
            <c:spPr>
              <a:solidFill>
                <a:srgbClr val="4E8FBD"/>
              </a:solidFill>
              <a:ln>
                <a:noFill/>
              </a:ln>
            </c:spPr>
          </c:dPt>
          <c:dPt>
            <c:idx val="2"/>
            <c:spPr>
              <a:solidFill>
                <a:srgbClr val="9BC2DD"/>
              </a:solidFill>
              <a:ln>
                <a:noFill/>
              </a:ln>
            </c:spPr>
          </c:dPt>
          <c:dPt>
            <c:idx val="3"/>
            <c:spPr>
              <a:solidFill>
                <a:srgbClr val="D9E1E8"/>
              </a:solidFill>
              <a:ln>
                <a:noFill/>
              </a:ln>
            </c:spPr>
          </c:dPt>
          <c:cat>
            <c:strLit>
              <c:ptCount val="4"/>
              <c:pt idx="0">
                <c:v>东部</c:v>
              </c:pt>
              <c:pt idx="1">
                <c:v>西部</c:v>
              </c:pt>
              <c:pt idx="2">
                <c:v>中部</c:v>
              </c:pt>
              <c:pt idx="3">
                <c:v>东北</c:v>
              </c:pt>
            </c:strLit>
          </c:cat>
          <c:val>
            <c:numLit>
              <c:formatCode>General</c:formatCode>
              <c:ptCount val="4"/>
              <c:pt idx="0">
                <c:v>55.9</c:v>
              </c:pt>
              <c:pt idx="1">
                <c:v>32.6</c:v>
              </c:pt>
              <c:pt idx="2">
                <c:v>10.6</c:v>
              </c:pt>
              <c:pt idx="3">
                <c:v>0.9</c:v>
              </c:pt>
            </c:numLit>
          </c:val>
        </c:ser>
        <c:firstSliceAng val="180"/>
        <c:holeSize val="60"/>
      </c:doughnutChart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300" noProof="1" b="0" i="0" u="none" strike="noStrike">
              <a:solidFill>
                <a:srgbClr val="5A6B7A"/>
              </a:solidFill>
              <a:latin typeface="Microsoft YaHei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crosoft YaHei"/>
        </a:defRPr>
      </a:pPr>
      <a:endParaRPr lang="en-US" noProof="1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iit.gov.cn/xwfb/bldhd/art/2026/art_bc4cf76777cb4fd2896082ca2ff7039d.html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da.gov.cn/sjj/ywpd/sjzg/0608/ff808081-9e81e847-019e-a7020a06-00a9.pdf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drc.gov.cn/xxgk/zcfb/tz/202312/t20231229_1363000_ext.html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caict.ac.cn/english/research/whitepapers/202509/P020250903609386521052.pdf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drc.gov.cn/xxgk/jd/jd/202202/t20220217_1315795_ext.html" TargetMode="External"/><Relationship Id="rId3" Type="http://schemas.openxmlformats.org/officeDocument/2006/relationships/hyperlink" Target="https://www.miit.gov.cn/cms_files/filemanager/1226211233/attach/20255/897c5bbdf9384c4bac38a74b5a7cfa4b.pdf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_1.xml"/><Relationship Id="rId3" Type="http://schemas.openxmlformats.org/officeDocument/2006/relationships/hyperlink" Target="https://www.miit.gov.cn/xwfb/bldhd/art/2026/art_bc4cf76777cb4fd2896082ca2ff7039d.html" TargetMode="External"/><Relationship Id="rId4" Type="http://schemas.openxmlformats.org/officeDocument/2006/relationships/hyperlink" Target="https://www.ndrc.gov.cn/xxgk/jd/jd/202202/t20220217_1315795_ext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da.gov.cn/sjj/ywpd/sjzg/0608/ff808081-9e81e847-019e-a7020a06-00a9.pdf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ccgp.gov.cn/cggg/zygg/zbgg/202505/t20250507_24550380.htm" TargetMode="External"/><Relationship Id="rId3" Type="http://schemas.openxmlformats.org/officeDocument/2006/relationships/hyperlink" Target="https://www.ccgp.gov.cn/cggg/zygg/zbgg/202510/t20251022_25550107.htm" TargetMode="External"/><Relationship Id="rId4" Type="http://schemas.openxmlformats.org/officeDocument/2006/relationships/hyperlink" Target="https://www.ccgp.gov.cn/cggg/zygg/zbgg/202606/t20260626_26820338.htm" TargetMode="External"/><Relationship Id="rId5" Type="http://schemas.openxmlformats.org/officeDocument/2006/relationships/hyperlink" Target="https://www.chinapost.com.cn/xhtml1/report/25042/3329-1.htm" TargetMode="External"/><Relationship Id="rId6" Type="http://schemas.openxmlformats.org/officeDocument/2006/relationships/hyperlink" Target="https://www.bidding.csg.cn/zbgg/1200408768.jhtml" TargetMode="External"/><Relationship Id="rId7" Type="http://schemas.openxmlformats.org/officeDocument/2006/relationships/hyperlink" Target="https://jsggzy.jszwfw.gov.cn/jyxx/003001/003001001/20250307/523f8485-42f0-43f9-b8b2-3764c513651c.html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ail"/>
          <p:cNvSpPr/>
          <p:nvPr/>
        </p:nvSpPr>
        <p:spPr>
          <a:xfrm>
            <a:off x="736600" y="889000"/>
            <a:ext cx="76200" cy="46990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net-l1"/>
          <p:cNvSpPr/>
          <p:nvPr>
            <p:extLst>
              <p:ext uri="{F5677B7D-0D2A-4D9B-9A5C-6D8D7D0E5A5D}">
                <pptd:line encoding="base64url">eyJ2aWV3Qm94IjpbMTgwLDgyXSwicG9pbnRzIjoiMCw4MiAxODAsMCJ9</pptd:line>
              </p:ext>
            </p:extLst>
          </p:nvPr>
        </p:nvSpPr>
        <p:spPr>
          <a:xfrm>
            <a:off x="7874000" y="1524000"/>
            <a:ext cx="2286000" cy="1041400"/>
          </a:xfrm>
          <a:custGeom>
            <a:avLst/>
            <a:gdLst/>
            <a:ahLst/>
            <a:cxnLst/>
            <a:rect l="l" t="t" r="r" b="b"/>
            <a:pathLst>
              <a:path w="180" h="82">
                <a:moveTo>
                  <a:pt x="0" y="82"/>
                </a:moveTo>
                <a:lnTo>
                  <a:pt x="180" y="0"/>
                </a:lnTo>
              </a:path>
            </a:pathLst>
          </a:custGeom>
          <a:noFill/>
          <a:ln w="15240" cap="rnd">
            <a:solidFill>
              <a:srgbClr val="4E8FBD">
                <a:alpha val="53333"/>
              </a:srgbClr>
            </a:solidFill>
            <a:round/>
          </a:ln>
        </p:spPr>
      </p:sp>
      <p:sp>
        <p:nvSpPr>
          <p:cNvPr id="4" name="net-l2"/>
          <p:cNvSpPr/>
          <p:nvPr>
            <p:extLst>
              <p:ext uri="{F5677B7D-0D2A-4D9B-9A5C-6D8D7D0E5A5D}">
                <pptd:line encoding="base64url">eyJ2aWV3Qm94IjpbMTQ1LDExMl0sInBvaW50cyI6IjAsMCAxNDUsMTEyIn0</pptd:line>
              </p:ext>
            </p:extLst>
          </p:nvPr>
        </p:nvSpPr>
        <p:spPr>
          <a:xfrm>
            <a:off x="8763000" y="2514600"/>
            <a:ext cx="1841500" cy="1422400"/>
          </a:xfrm>
          <a:custGeom>
            <a:avLst/>
            <a:gdLst/>
            <a:ahLst/>
            <a:cxnLst/>
            <a:rect l="l" t="t" r="r" b="b"/>
            <a:pathLst>
              <a:path w="145" h="112">
                <a:moveTo>
                  <a:pt x="0" y="0"/>
                </a:moveTo>
                <a:lnTo>
                  <a:pt x="145" y="112"/>
                </a:lnTo>
              </a:path>
            </a:pathLst>
          </a:custGeom>
          <a:noFill/>
          <a:ln w="15240" cap="rnd">
            <a:solidFill>
              <a:srgbClr val="4E8FBD">
                <a:alpha val="53333"/>
              </a:srgbClr>
            </a:solidFill>
            <a:round/>
          </a:ln>
        </p:spPr>
      </p:sp>
      <p:sp>
        <p:nvSpPr>
          <p:cNvPr id="5" name="net-l3"/>
          <p:cNvSpPr/>
          <p:nvPr>
            <p:extLst>
              <p:ext uri="{F5677B7D-0D2A-4D9B-9A5C-6D8D7D0E5A5D}">
                <pptd:line encoding="base64url">eyJ2aWV3Qm94IjpbMjI1LDY1XSwicG9pbnRzIjoiMCw2NSAyMjUsMCJ9</pptd:line>
              </p:ext>
            </p:extLst>
          </p:nvPr>
        </p:nvSpPr>
        <p:spPr>
          <a:xfrm>
            <a:off x="7747000" y="3873500"/>
            <a:ext cx="2857500" cy="825500"/>
          </a:xfrm>
          <a:custGeom>
            <a:avLst/>
            <a:gdLst/>
            <a:ahLst/>
            <a:cxnLst/>
            <a:rect l="l" t="t" r="r" b="b"/>
            <a:pathLst>
              <a:path w="225" h="65">
                <a:moveTo>
                  <a:pt x="0" y="65"/>
                </a:moveTo>
                <a:lnTo>
                  <a:pt x="225" y="0"/>
                </a:lnTo>
              </a:path>
            </a:pathLst>
          </a:custGeom>
          <a:noFill/>
          <a:ln w="15240" cap="rnd">
            <a:solidFill>
              <a:srgbClr val="4E8FBD">
                <a:alpha val="53333"/>
              </a:srgbClr>
            </a:solidFill>
            <a:round/>
          </a:ln>
        </p:spPr>
      </p:sp>
      <p:sp>
        <p:nvSpPr>
          <p:cNvPr id="6" name="net-l4"/>
          <p:cNvSpPr/>
          <p:nvPr>
            <p:extLst>
              <p:ext uri="{F5677B7D-0D2A-4D9B-9A5C-6D8D7D0E5A5D}">
                <pptd:line encoding="base64url">eyJ2aWV3Qm94IjpbODAsMTg1XSwicG9pbnRzIjoiMCwwIDgwLDE4NSJ9</pptd:line>
              </p:ext>
            </p:extLst>
          </p:nvPr>
        </p:nvSpPr>
        <p:spPr>
          <a:xfrm>
            <a:off x="7747000" y="2349500"/>
            <a:ext cx="1016000" cy="2349500"/>
          </a:xfrm>
          <a:custGeom>
            <a:avLst/>
            <a:gdLst/>
            <a:ahLst/>
            <a:cxnLst/>
            <a:rect l="l" t="t" r="r" b="b"/>
            <a:pathLst>
              <a:path w="80" h="185">
                <a:moveTo>
                  <a:pt x="0" y="0"/>
                </a:moveTo>
                <a:lnTo>
                  <a:pt x="80" y="185"/>
                </a:lnTo>
              </a:path>
            </a:pathLst>
          </a:custGeom>
          <a:noFill/>
          <a:ln w="15240" cap="rnd">
            <a:solidFill>
              <a:srgbClr val="4E8FBD">
                <a:alpha val="40000"/>
              </a:srgbClr>
            </a:solidFill>
            <a:round/>
          </a:ln>
        </p:spPr>
      </p:sp>
      <p:sp>
        <p:nvSpPr>
          <p:cNvPr id="7" name="net-l5"/>
          <p:cNvSpPr/>
          <p:nvPr>
            <p:extLst>
              <p:ext uri="{F5677B7D-0D2A-4D9B-9A5C-6D8D7D0E5A5D}">
                <pptd:line encoding="base64url">eyJ2aWV3Qm94IjpbNjYsMjUwXSwicG9pbnRzIjoiMCwwIDY2LDI1MCJ9</pptd:line>
              </p:ext>
            </p:extLst>
          </p:nvPr>
        </p:nvSpPr>
        <p:spPr>
          <a:xfrm>
            <a:off x="10160000" y="1524000"/>
            <a:ext cx="838200" cy="3175000"/>
          </a:xfrm>
          <a:custGeom>
            <a:avLst/>
            <a:gdLst/>
            <a:ahLst/>
            <a:cxnLst/>
            <a:rect l="l" t="t" r="r" b="b"/>
            <a:pathLst>
              <a:path w="66" h="250">
                <a:moveTo>
                  <a:pt x="0" y="0"/>
                </a:moveTo>
                <a:lnTo>
                  <a:pt x="66" y="250"/>
                </a:lnTo>
              </a:path>
            </a:pathLst>
          </a:custGeom>
          <a:noFill/>
          <a:ln w="15240" cap="rnd">
            <a:solidFill>
              <a:srgbClr val="4E8FBD">
                <a:alpha val="40000"/>
              </a:srgbClr>
            </a:solidFill>
            <a:round/>
          </a:ln>
        </p:spPr>
      </p:sp>
      <p:sp>
        <p:nvSpPr>
          <p:cNvPr id="8" name="node-chip"/>
          <p:cNvSpPr/>
          <p:nvPr/>
        </p:nvSpPr>
        <p:spPr>
          <a:xfrm>
            <a:off x="7518400" y="2159000"/>
            <a:ext cx="939800" cy="9398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9" name="node-net"/>
          <p:cNvSpPr/>
          <p:nvPr/>
        </p:nvSpPr>
        <p:spPr>
          <a:xfrm>
            <a:off x="9779000" y="1168400"/>
            <a:ext cx="812800" cy="8128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0" name="node-power"/>
          <p:cNvSpPr/>
          <p:nvPr/>
        </p:nvSpPr>
        <p:spPr>
          <a:xfrm>
            <a:off x="9969500" y="3429000"/>
            <a:ext cx="1168400" cy="1168400"/>
          </a:xfrm>
          <a:prstGeom prst="ellipse">
            <a:avLst/>
          </a:prstGeom>
          <a:solidFill>
            <a:srgbClr val="25557C"/>
          </a:solidFill>
          <a:ln>
            <a:noFill/>
          </a:ln>
        </p:spPr>
      </p:sp>
      <p:sp>
        <p:nvSpPr>
          <p:cNvPr id="11" name="node-cloud"/>
          <p:cNvSpPr/>
          <p:nvPr/>
        </p:nvSpPr>
        <p:spPr>
          <a:xfrm>
            <a:off x="8128000" y="4191000"/>
            <a:ext cx="965200" cy="965200"/>
          </a:xfrm>
          <a:prstGeom prst="ellipse">
            <a:avLst/>
          </a:prstGeom>
          <a:solidFill>
            <a:srgbClr val="2F739F"/>
          </a:solidFill>
          <a:ln>
            <a:noFill/>
          </a:ln>
        </p:spPr>
      </p:sp>
      <p:sp>
        <p:nvSpPr>
          <p:cNvPr id="12" name="node-app"/>
          <p:cNvSpPr/>
          <p:nvPr/>
        </p:nvSpPr>
        <p:spPr>
          <a:xfrm>
            <a:off x="10604500" y="4470400"/>
            <a:ext cx="660400" cy="660400"/>
          </a:xfrm>
          <a:prstGeom prst="ellipse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3" name="node-chip-t"/>
          <p:cNvSpPr txBox="1"/>
          <p:nvPr/>
        </p:nvSpPr>
        <p:spPr>
          <a:xfrm>
            <a:off x="7518400" y="2159000"/>
            <a:ext cx="9398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300" noProof="1" b="1">
                <a:solidFill>
                  <a:srgbClr val="FFFFFF"/>
                </a:solidFill>
                <a:latin typeface="Microsoft YaHei"/>
                <a:ea typeface="Microsoft YaHei"/>
              </a:rPr>
              <a:t>芯</a:t>
            </a:r>
            <a:endParaRPr lang="en-US" sz="2300" noProof="1"/>
          </a:p>
        </p:txBody>
      </p:sp>
      <p:sp>
        <p:nvSpPr>
          <p:cNvPr id="14" name="node-net-t"/>
          <p:cNvSpPr txBox="1"/>
          <p:nvPr/>
        </p:nvSpPr>
        <p:spPr>
          <a:xfrm>
            <a:off x="9779000" y="1168400"/>
            <a:ext cx="81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FFFFFF"/>
                </a:solidFill>
                <a:latin typeface="Microsoft YaHei"/>
                <a:ea typeface="Microsoft YaHei"/>
              </a:rPr>
              <a:t>网</a:t>
            </a:r>
            <a:endParaRPr lang="en-US" sz="2100" noProof="1"/>
          </a:p>
        </p:txBody>
      </p:sp>
      <p:sp>
        <p:nvSpPr>
          <p:cNvPr id="15" name="node-power-t"/>
          <p:cNvSpPr txBox="1"/>
          <p:nvPr/>
        </p:nvSpPr>
        <p:spPr>
          <a:xfrm>
            <a:off x="9969500" y="3429000"/>
            <a:ext cx="11684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700" noProof="1" b="1">
                <a:solidFill>
                  <a:srgbClr val="FFFFFF"/>
                </a:solidFill>
                <a:latin typeface="Microsoft YaHei"/>
                <a:ea typeface="Microsoft YaHei"/>
              </a:rPr>
              <a:t>电</a:t>
            </a:r>
            <a:endParaRPr lang="en-US" sz="2700" noProof="1"/>
          </a:p>
        </p:txBody>
      </p:sp>
      <p:sp>
        <p:nvSpPr>
          <p:cNvPr id="16" name="node-cloud-t"/>
          <p:cNvSpPr txBox="1"/>
          <p:nvPr/>
        </p:nvSpPr>
        <p:spPr>
          <a:xfrm>
            <a:off x="8128000" y="4191000"/>
            <a:ext cx="965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300" noProof="1" b="1">
                <a:solidFill>
                  <a:srgbClr val="FFFFFF"/>
                </a:solidFill>
                <a:latin typeface="Microsoft YaHei"/>
                <a:ea typeface="Microsoft YaHei"/>
              </a:rPr>
              <a:t>算</a:t>
            </a:r>
            <a:endParaRPr lang="en-US" sz="2300" noProof="1"/>
          </a:p>
        </p:txBody>
      </p:sp>
      <p:sp>
        <p:nvSpPr>
          <p:cNvPr id="17" name="node-app-t"/>
          <p:cNvSpPr txBox="1"/>
          <p:nvPr/>
        </p:nvSpPr>
        <p:spPr>
          <a:xfrm>
            <a:off x="10604500" y="44704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用</a:t>
            </a:r>
            <a:endParaRPr lang="en-US" sz="1800" noProof="1"/>
          </a:p>
        </p:txBody>
      </p:sp>
      <p:sp>
        <p:nvSpPr>
          <p:cNvPr id="18" name="cover-kicker"/>
          <p:cNvSpPr txBox="1"/>
          <p:nvPr/>
        </p:nvSpPr>
        <p:spPr>
          <a:xfrm>
            <a:off x="1092200" y="990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180" kern="0">
                <a:solidFill>
                  <a:srgbClr val="9BC2DD"/>
                </a:solidFill>
                <a:latin typeface="Microsoft YaHei"/>
                <a:ea typeface="Microsoft YaHei"/>
              </a:rPr>
              <a:t>INDUSTRY RESEARCH · 2026</a:t>
            </a:r>
            <a:endParaRPr lang="en-US" sz="1200" noProof="1"/>
          </a:p>
        </p:txBody>
      </p:sp>
      <p:sp>
        <p:nvSpPr>
          <p:cNvPr id="19" name="cover-title"/>
          <p:cNvSpPr txBox="1"/>
          <p:nvPr/>
        </p:nvSpPr>
        <p:spPr>
          <a:xfrm>
            <a:off x="1092200" y="1752600"/>
            <a:ext cx="6350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8000"/>
              </a:lnSpc>
            </a:pPr>
            <a:r>
              <a:rPr lang="en-US" sz="5800" noProof="1" b="1">
                <a:solidFill>
                  <a:srgbClr val="FFFFFF"/>
                </a:solidFill>
                <a:latin typeface="Microsoft YaHei"/>
                <a:ea typeface="Microsoft YaHei"/>
              </a:rPr>
              <a:t>中国算力产业链</a:t>
            </a:r>
            <a:endParaRPr lang="en-US" sz="5800" noProof="1"/>
          </a:p>
          <a:p>
            <a:pPr>
              <a:lnSpc>
                <a:spcPct val="108000"/>
              </a:lnSpc>
            </a:pPr>
            <a:r>
              <a:rPr lang="en-US" sz="5800" noProof="1" b="1">
                <a:solidFill>
                  <a:srgbClr val="FFFFFF"/>
                </a:solidFill>
                <a:latin typeface="Microsoft YaHei"/>
                <a:ea typeface="Microsoft YaHei"/>
              </a:rPr>
              <a:t>与招投标信号</a:t>
            </a:r>
            <a:endParaRPr lang="en-US" sz="5800" noProof="1"/>
          </a:p>
        </p:txBody>
      </p:sp>
      <p:sp>
        <p:nvSpPr>
          <p:cNvPr id="20" name="cover-subtitle"/>
          <p:cNvSpPr txBox="1"/>
          <p:nvPr/>
        </p:nvSpPr>
        <p:spPr>
          <a:xfrm>
            <a:off x="1117600" y="40005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C7D8E6"/>
                </a:solidFill>
                <a:latin typeface="Microsoft YaHei"/>
                <a:ea typeface="Microsoft YaHei"/>
              </a:rPr>
              <a:t>从芯片、集群、电力到算力商品化</a:t>
            </a:r>
            <a:endParaRPr lang="en-US" sz="2000" noProof="1"/>
          </a:p>
        </p:txBody>
      </p:sp>
      <p:sp>
        <p:nvSpPr>
          <p:cNvPr id="21" name="cover-meta"/>
          <p:cNvSpPr txBox="1"/>
          <p:nvPr/>
        </p:nvSpPr>
        <p:spPr>
          <a:xfrm>
            <a:off x="1117600" y="5143500"/>
            <a:ext cx="596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91A9BC"/>
                </a:solidFill>
                <a:latin typeface="Microsoft YaHei"/>
                <a:ea typeface="Microsoft YaHei"/>
              </a:rPr>
              <a:t>数据截止：2026-08-09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91A9BC"/>
                </a:solidFill>
                <a:latin typeface="Microsoft YaHei"/>
                <a:ea typeface="Microsoft YaHei"/>
              </a:rPr>
              <a:t>研究范围：中国大陆｜公开招投标样本 2025—2026</a:t>
            </a:r>
            <a:endParaRPr lang="en-US" sz="1300" noProof="1"/>
          </a:p>
        </p:txBody>
      </p:sp>
      <p:sp>
        <p:nvSpPr>
          <p:cNvPr id="22" name="cover-footer"/>
          <p:cNvSpPr txBox="1"/>
          <p:nvPr/>
        </p:nvSpPr>
        <p:spPr>
          <a:xfrm>
            <a:off x="1092200" y="6311900"/>
            <a:ext cx="1003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F8AA1"/>
                </a:solidFill>
                <a:latin typeface="Microsoft YaHei"/>
                <a:ea typeface="Microsoft YaHei"/>
              </a:rPr>
              <a:t>基于政府、监管部门、采购人与公共资源平台公开资料整理｜不构成投资或投标建议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EXECUTIVE SUMMARY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规模扩张已验证，回报取决于有效算力与付费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metric-main"/>
          <p:cNvSpPr txBox="1"/>
          <p:nvPr/>
        </p:nvSpPr>
        <p:spPr>
          <a:xfrm>
            <a:off x="685800" y="1625600"/>
            <a:ext cx="5461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7000" noProof="1" b="1">
                <a:solidFill>
                  <a:srgbClr val="000000"/>
                </a:solidFill>
                <a:latin typeface="MiSans"/>
                <a:ea typeface="MiSans"/>
              </a:rPr>
              <a:t>2185</a:t>
            </a:r>
            <a:r>
              <a:rPr lang="en-US" sz="2400" noProof="1">
                <a:solidFill>
                  <a:srgbClr val="000000"/>
                </a:solidFill>
                <a:latin typeface="MiSans"/>
                <a:ea typeface="MiSans"/>
              </a:rPr>
              <a:t> EFLOPS</a:t>
            </a:r>
            <a:endParaRPr lang="en-US" sz="1600" noProof="1"/>
          </a:p>
        </p:txBody>
      </p:sp>
      <p:sp>
        <p:nvSpPr>
          <p:cNvPr id="7" name="metric-main-label"/>
          <p:cNvSpPr txBox="1"/>
          <p:nvPr/>
        </p:nvSpPr>
        <p:spPr>
          <a:xfrm>
            <a:off x="736600" y="2628900"/>
            <a:ext cx="4889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102334"/>
                </a:solidFill>
                <a:latin typeface="Microsoft YaHei"/>
                <a:ea typeface="Microsoft YaHei"/>
              </a:rPr>
              <a:t>2026年6月底智能算力（FP16）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000000"/>
                </a:solidFill>
                <a:latin typeface="Microsoft YaHei"/>
                <a:ea typeface="Microsoft YaHei"/>
              </a:rPr>
              <a:t>同比增长177%，但不可与早期未标精度总算力混算</a:t>
            </a:r>
            <a:endParaRPr lang="en-US" sz="1600" noProof="1"/>
          </a:p>
        </p:txBody>
      </p:sp>
      <p:sp>
        <p:nvSpPr>
          <p:cNvPr id="8" name="separator-v"/>
          <p:cNvSpPr/>
          <p:nvPr/>
        </p:nvSpPr>
        <p:spPr>
          <a:xfrm>
            <a:off x="6261100" y="1600200"/>
            <a:ext cx="12700" cy="19050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9" name="metric-2"/>
          <p:cNvSpPr txBox="1"/>
          <p:nvPr/>
        </p:nvSpPr>
        <p:spPr>
          <a:xfrm>
            <a:off x="6731000" y="17018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71.4%</a:t>
            </a: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 设施整体上架率</a:t>
            </a:r>
            <a:endParaRPr lang="en-US" sz="1600" noProof="1"/>
          </a:p>
        </p:txBody>
      </p:sp>
      <p:sp>
        <p:nvSpPr>
          <p:cNvPr id="10" name="metric-3"/>
          <p:cNvSpPr txBox="1"/>
          <p:nvPr/>
        </p:nvSpPr>
        <p:spPr>
          <a:xfrm>
            <a:off x="6731000" y="2641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22 + 3</a:t>
            </a: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 招投标样本</a:t>
            </a:r>
            <a:endParaRPr lang="en-US" sz="1600" noProof="1"/>
          </a:p>
        </p:txBody>
      </p:sp>
      <p:sp>
        <p:nvSpPr>
          <p:cNvPr id="11" name="lower-rule"/>
          <p:cNvSpPr/>
          <p:nvPr/>
        </p:nvSpPr>
        <p:spPr>
          <a:xfrm>
            <a:off x="685800" y="37465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2" name="conclusion-1"/>
          <p:cNvSpPr txBox="1"/>
          <p:nvPr/>
        </p:nvSpPr>
        <p:spPr>
          <a:xfrm>
            <a:off x="685800" y="4064000"/>
            <a:ext cx="3302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01｜增量中心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瓶颈已转向芯片、内存、互连、电力和冷却</a:t>
            </a:r>
            <a:endParaRPr lang="en-US" sz="1600" noProof="1"/>
          </a:p>
        </p:txBody>
      </p:sp>
      <p:sp>
        <p:nvSpPr>
          <p:cNvPr id="13" name="conclusion-2"/>
          <p:cNvSpPr txBox="1"/>
          <p:nvPr/>
        </p:nvSpPr>
        <p:spPr>
          <a:xfrm>
            <a:off x="4445000" y="4064000"/>
            <a:ext cx="3302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02｜利润分化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收入规模不等于经济租金，利用率与现金流更关键</a:t>
            </a:r>
            <a:endParaRPr lang="en-US" sz="1600" noProof="1"/>
          </a:p>
        </p:txBody>
      </p:sp>
      <p:sp>
        <p:nvSpPr>
          <p:cNvPr id="14" name="conclusion-3"/>
          <p:cNvSpPr txBox="1"/>
          <p:nvPr/>
        </p:nvSpPr>
        <p:spPr>
          <a:xfrm>
            <a:off x="8204200" y="4064000"/>
            <a:ext cx="3302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03｜采购验证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需求从设备采购扩展到全栈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EPC 与按量服务</a:t>
            </a:r>
            <a:endParaRPr lang="en-US" sz="1600" noProof="1"/>
          </a:p>
        </p:txBody>
      </p:sp>
      <p:sp>
        <p:nvSpPr>
          <p:cNvPr id="15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工信部，2026年上半年发布会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；招投标样本为本报告目的抽样，非市场规模。</a:t>
            </a:r>
            <a:endParaRPr lang="en-US" sz="900" noProof="1"/>
          </a:p>
        </p:txBody>
      </p:sp>
      <p:sp>
        <p:nvSpPr>
          <p:cNvPr id="16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02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MEASUREMENT BASIS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同名“算力”并非同一指标，口径错配会制造虚假增长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col-line-1"/>
          <p:cNvSpPr/>
          <p:nvPr/>
        </p:nvSpPr>
        <p:spPr>
          <a:xfrm>
            <a:off x="3797300" y="1600200"/>
            <a:ext cx="12700" cy="44196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7" name="col-line-2"/>
          <p:cNvSpPr/>
          <p:nvPr/>
        </p:nvSpPr>
        <p:spPr>
          <a:xfrm>
            <a:off x="8305800" y="1600200"/>
            <a:ext cx="12700" cy="44196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8" name="left-head"/>
          <p:cNvSpPr txBox="1"/>
          <p:nvPr/>
        </p:nvSpPr>
        <p:spPr>
          <a:xfrm>
            <a:off x="685800" y="16002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精度决定算力数字的含义</a:t>
            </a:r>
            <a:endParaRPr lang="en-US" sz="1800" noProof="1"/>
          </a:p>
        </p:txBody>
      </p:sp>
      <p:sp>
        <p:nvSpPr>
          <p:cNvPr id="9" name="prec-1"/>
          <p:cNvSpPr/>
          <p:nvPr/>
        </p:nvSpPr>
        <p:spPr>
          <a:xfrm>
            <a:off x="685800" y="2247900"/>
            <a:ext cx="2413000" cy="381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10" name="prec-1t"/>
          <p:cNvSpPr txBox="1"/>
          <p:nvPr/>
        </p:nvSpPr>
        <p:spPr>
          <a:xfrm>
            <a:off x="812800" y="22479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FP64｜科学计算</a:t>
            </a:r>
            <a:endParaRPr lang="en-US" sz="1400" noProof="1"/>
          </a:p>
        </p:txBody>
      </p:sp>
      <p:sp>
        <p:nvSpPr>
          <p:cNvPr id="11" name="prec-2"/>
          <p:cNvSpPr/>
          <p:nvPr/>
        </p:nvSpPr>
        <p:spPr>
          <a:xfrm>
            <a:off x="685800" y="2794000"/>
            <a:ext cx="2095500" cy="381000"/>
          </a:xfrm>
          <a:prstGeom prst="rect">
            <a:avLst/>
          </a:prstGeom>
          <a:solidFill>
            <a:srgbClr val="25557C"/>
          </a:solidFill>
          <a:ln>
            <a:noFill/>
          </a:ln>
        </p:spPr>
      </p:sp>
      <p:sp>
        <p:nvSpPr>
          <p:cNvPr id="12" name="prec-2t"/>
          <p:cNvSpPr txBox="1"/>
          <p:nvPr/>
        </p:nvSpPr>
        <p:spPr>
          <a:xfrm>
            <a:off x="812800" y="2794000"/>
            <a:ext cx="1968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FP32｜通用浮点</a:t>
            </a:r>
            <a:endParaRPr lang="en-US" sz="1400" noProof="1"/>
          </a:p>
        </p:txBody>
      </p:sp>
      <p:sp>
        <p:nvSpPr>
          <p:cNvPr id="13" name="prec-3"/>
          <p:cNvSpPr/>
          <p:nvPr/>
        </p:nvSpPr>
        <p:spPr>
          <a:xfrm>
            <a:off x="685800" y="3340100"/>
            <a:ext cx="1778000" cy="3810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4" name="prec-3t"/>
          <p:cNvSpPr txBox="1"/>
          <p:nvPr/>
        </p:nvSpPr>
        <p:spPr>
          <a:xfrm>
            <a:off x="812800" y="33401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FP16/BF16｜AI</a:t>
            </a:r>
            <a:endParaRPr lang="en-US" sz="1400" noProof="1"/>
          </a:p>
        </p:txBody>
      </p:sp>
      <p:sp>
        <p:nvSpPr>
          <p:cNvPr id="15" name="prec-4"/>
          <p:cNvSpPr/>
          <p:nvPr/>
        </p:nvSpPr>
        <p:spPr>
          <a:xfrm>
            <a:off x="685800" y="3886200"/>
            <a:ext cx="1460500" cy="3810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6" name="prec-4t"/>
          <p:cNvSpPr txBox="1"/>
          <p:nvPr/>
        </p:nvSpPr>
        <p:spPr>
          <a:xfrm>
            <a:off x="812800" y="3886200"/>
            <a:ext cx="1333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INT8｜推理</a:t>
            </a:r>
            <a:endParaRPr lang="en-US" sz="1400" noProof="1"/>
          </a:p>
        </p:txBody>
      </p:sp>
      <p:sp>
        <p:nvSpPr>
          <p:cNvPr id="17" name="left-note"/>
          <p:cNvSpPr txBox="1"/>
          <p:nvPr/>
        </p:nvSpPr>
        <p:spPr>
          <a:xfrm>
            <a:off x="685800" y="4635500"/>
            <a:ext cx="2667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5A6B7A"/>
                </a:solidFill>
                <a:latin typeface="Microsoft YaHei"/>
                <a:ea typeface="Microsoft YaHei"/>
              </a:rPr>
              <a:t>相同设备在不同精度下的峰值可相差数倍。</a:t>
            </a:r>
            <a:endParaRPr lang="en-US" sz="1100" noProof="1"/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5A6B7A"/>
                </a:solidFill>
                <a:latin typeface="Microsoft YaHei"/>
                <a:ea typeface="Microsoft YaHei"/>
              </a:rPr>
              <a:t>结论：</a:t>
            </a:r>
            <a:r>
              <a:rPr lang="en-US" sz="1100" noProof="1">
                <a:solidFill>
                  <a:srgbClr val="5A6B7A"/>
                </a:solidFill>
                <a:latin typeface="Microsoft YaHei"/>
                <a:ea typeface="Microsoft YaHei"/>
              </a:rPr>
              <a:t>不同精度、不同统计范围不可拼成单一增长曲线。</a:t>
            </a:r>
            <a:endParaRPr lang="en-US" sz="1100" noProof="1"/>
          </a:p>
        </p:txBody>
      </p:sp>
      <p:sp>
        <p:nvSpPr>
          <p:cNvPr id="18" name="mid-head"/>
          <p:cNvSpPr txBox="1"/>
          <p:nvPr/>
        </p:nvSpPr>
        <p:spPr>
          <a:xfrm>
            <a:off x="4191000" y="16002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供给到使用至少跨越四层</a:t>
            </a:r>
            <a:endParaRPr lang="en-US" sz="1800" noProof="1"/>
          </a:p>
        </p:txBody>
      </p:sp>
      <p:sp>
        <p:nvSpPr>
          <p:cNvPr id="19" name="flow-line"/>
          <p:cNvSpPr/>
          <p:nvPr>
            <p:extLst>
              <p:ext uri="{F5677B7D-0D2A-4D9B-9A5C-6D8D7D0E5A5D}">
                <pptd:line encoding="base64url">eyJ2aWV3Qm94IjpbMjI2LDFdLCJwb2ludHMiOiIwLDAgMjI2LDAifQ</pptd:line>
              </p:ext>
            </p:extLst>
          </p:nvPr>
        </p:nvSpPr>
        <p:spPr>
          <a:xfrm>
            <a:off x="4584700" y="2603500"/>
            <a:ext cx="2870200" cy="10160"/>
          </a:xfrm>
          <a:custGeom>
            <a:avLst/>
            <a:gdLst/>
            <a:ahLst/>
            <a:cxnLst/>
            <a:rect l="l" t="t" r="r" b="b"/>
            <a:pathLst>
              <a:path w="226" h="1">
                <a:moveTo>
                  <a:pt x="0" y="0"/>
                </a:moveTo>
                <a:lnTo>
                  <a:pt x="226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20" name="stage-1"/>
          <p:cNvSpPr/>
          <p:nvPr/>
        </p:nvSpPr>
        <p:spPr>
          <a:xfrm>
            <a:off x="4165600" y="2286000"/>
            <a:ext cx="889000" cy="6604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21" name="stage-2"/>
          <p:cNvSpPr/>
          <p:nvPr/>
        </p:nvSpPr>
        <p:spPr>
          <a:xfrm>
            <a:off x="5194300" y="2286000"/>
            <a:ext cx="889000" cy="6604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22" name="stage-3"/>
          <p:cNvSpPr/>
          <p:nvPr/>
        </p:nvSpPr>
        <p:spPr>
          <a:xfrm>
            <a:off x="6223000" y="2286000"/>
            <a:ext cx="889000" cy="6604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23" name="stage-4"/>
          <p:cNvSpPr/>
          <p:nvPr/>
        </p:nvSpPr>
        <p:spPr>
          <a:xfrm>
            <a:off x="7251700" y="2286000"/>
            <a:ext cx="889000" cy="660400"/>
          </a:xfrm>
          <a:prstGeom prst="rect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24" name="stage-1t"/>
          <p:cNvSpPr txBox="1"/>
          <p:nvPr/>
        </p:nvSpPr>
        <p:spPr>
          <a:xfrm>
            <a:off x="4165600" y="2286000"/>
            <a:ext cx="88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已建</a:t>
            </a:r>
            <a:endParaRPr lang="en-US" sz="1400" noProof="1"/>
          </a:p>
        </p:txBody>
      </p:sp>
      <p:sp>
        <p:nvSpPr>
          <p:cNvPr id="25" name="stage-2t"/>
          <p:cNvSpPr txBox="1"/>
          <p:nvPr/>
        </p:nvSpPr>
        <p:spPr>
          <a:xfrm>
            <a:off x="5194300" y="2286000"/>
            <a:ext cx="88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监测</a:t>
            </a:r>
            <a:endParaRPr lang="en-US" sz="1400" noProof="1"/>
          </a:p>
        </p:txBody>
      </p:sp>
      <p:sp>
        <p:nvSpPr>
          <p:cNvPr id="26" name="stage-3t"/>
          <p:cNvSpPr txBox="1"/>
          <p:nvPr/>
        </p:nvSpPr>
        <p:spPr>
          <a:xfrm>
            <a:off x="6223000" y="2286000"/>
            <a:ext cx="88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可调度</a:t>
            </a:r>
            <a:endParaRPr lang="en-US" sz="1400" noProof="1"/>
          </a:p>
        </p:txBody>
      </p:sp>
      <p:sp>
        <p:nvSpPr>
          <p:cNvPr id="27" name="stage-4t"/>
          <p:cNvSpPr txBox="1"/>
          <p:nvPr/>
        </p:nvSpPr>
        <p:spPr>
          <a:xfrm>
            <a:off x="7251700" y="2286000"/>
            <a:ext cx="88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B1F33"/>
                </a:solidFill>
                <a:latin typeface="Microsoft YaHei"/>
                <a:ea typeface="Microsoft YaHei"/>
              </a:rPr>
              <a:t>实际使用</a:t>
            </a:r>
            <a:endParaRPr lang="en-US" sz="1400" noProof="1"/>
          </a:p>
        </p:txBody>
      </p:sp>
      <p:sp>
        <p:nvSpPr>
          <p:cNvPr id="28" name="mid-copy"/>
          <p:cNvSpPr txBox="1"/>
          <p:nvPr/>
        </p:nvSpPr>
        <p:spPr>
          <a:xfrm>
            <a:off x="4191000" y="3403600"/>
            <a:ext cx="3683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102334"/>
                </a:solidFill>
                <a:latin typeface="Microsoft YaHei"/>
                <a:ea typeface="Microsoft YaHei"/>
              </a:rPr>
              <a:t>机架上架率</a:t>
            </a:r>
            <a:r>
              <a:rPr lang="en-US" sz="1600" noProof="1">
                <a:solidFill>
                  <a:srgbClr val="102334"/>
                </a:solidFill>
                <a:latin typeface="Microsoft YaHei"/>
                <a:ea typeface="Microsoft YaHei"/>
              </a:rPr>
              <a:t>只说明设备安装；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1200"/>
              </a:spcBef>
            </a:pPr>
            <a:r>
              <a:rPr lang="en-US" sz="1600" noProof="1" b="1">
                <a:solidFill>
                  <a:srgbClr val="102334"/>
                </a:solidFill>
                <a:latin typeface="Microsoft YaHei"/>
                <a:ea typeface="Microsoft YaHei"/>
              </a:rPr>
              <a:t>功率使用率</a:t>
            </a:r>
            <a:r>
              <a:rPr lang="en-US" sz="1600" noProof="1">
                <a:solidFill>
                  <a:srgbClr val="102334"/>
                </a:solidFill>
                <a:latin typeface="Microsoft YaHei"/>
                <a:ea typeface="Microsoft YaHei"/>
              </a:rPr>
              <a:t>反映 IT 负载；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1200"/>
              </a:spcBef>
            </a:pPr>
            <a:r>
              <a:rPr lang="en-US" sz="1600" noProof="1" b="1">
                <a:solidFill>
                  <a:srgbClr val="102334"/>
                </a:solidFill>
                <a:latin typeface="Microsoft YaHei"/>
                <a:ea typeface="Microsoft YaHei"/>
              </a:rPr>
              <a:t>GPU 利用率 / MFU</a:t>
            </a:r>
            <a:r>
              <a:rPr lang="en-US" sz="1600" noProof="1">
                <a:solidFill>
                  <a:srgbClr val="102334"/>
                </a:solidFill>
                <a:latin typeface="Microsoft YaHei"/>
                <a:ea typeface="Microsoft YaHei"/>
              </a:rPr>
              <a:t>才接近模型有效计算；</a:t>
            </a:r>
            <a:endParaRPr lang="en-US" sz="1600" noProof="1"/>
          </a:p>
          <a:p>
            <a:pPr>
              <a:lnSpc>
                <a:spcPct val="135000"/>
              </a:lnSpc>
              <a:spcBef>
                <a:spcPts val="1200"/>
              </a:spcBef>
            </a:pPr>
            <a:r>
              <a:rPr lang="en-US" sz="1600" noProof="1" b="1">
                <a:solidFill>
                  <a:srgbClr val="102334"/>
                </a:solidFill>
                <a:latin typeface="Microsoft YaHei"/>
                <a:ea typeface="Microsoft YaHei"/>
              </a:rPr>
              <a:t>收入与现金流</a:t>
            </a:r>
            <a:r>
              <a:rPr lang="en-US" sz="1600" noProof="1">
                <a:solidFill>
                  <a:srgbClr val="102334"/>
                </a:solidFill>
                <a:latin typeface="Microsoft YaHei"/>
                <a:ea typeface="Microsoft YaHei"/>
              </a:rPr>
              <a:t>还取决于价格、合同和回款。</a:t>
            </a:r>
            <a:endParaRPr lang="en-US" sz="1600" noProof="1"/>
          </a:p>
        </p:txBody>
      </p:sp>
      <p:sp>
        <p:nvSpPr>
          <p:cNvPr id="29" name="right-head"/>
          <p:cNvSpPr txBox="1"/>
          <p:nvPr/>
        </p:nvSpPr>
        <p:spPr>
          <a:xfrm>
            <a:off x="8712200" y="16002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三条研究禁令</a:t>
            </a:r>
            <a:endParaRPr lang="en-US" sz="1800" noProof="1"/>
          </a:p>
        </p:txBody>
      </p:sp>
      <p:sp>
        <p:nvSpPr>
          <p:cNvPr id="30" name="right-copy"/>
          <p:cNvSpPr txBox="1"/>
          <p:nvPr/>
        </p:nvSpPr>
        <p:spPr>
          <a:xfrm>
            <a:off x="8712200" y="2235200"/>
            <a:ext cx="2794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700" noProof="1" b="1">
                <a:solidFill>
                  <a:srgbClr val="000000"/>
                </a:solidFill>
                <a:latin typeface="Microsoft YaHei"/>
                <a:ea typeface="Microsoft YaHei"/>
              </a:rPr>
              <a:t>01</a:t>
            </a:r>
            <a:r>
              <a:rPr lang="en-US" sz="1700" noProof="1">
                <a:solidFill>
                  <a:srgbClr val="102334"/>
                </a:solidFill>
                <a:latin typeface="Microsoft YaHei"/>
                <a:ea typeface="Microsoft YaHei"/>
              </a:rPr>
              <a:t> 不混用不同精度的 EFLOPS</a:t>
            </a:r>
            <a:endParaRPr lang="en-US" sz="1700" noProof="1"/>
          </a:p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700" noProof="1" b="1">
                <a:solidFill>
                  <a:srgbClr val="000000"/>
                </a:solidFill>
                <a:latin typeface="Microsoft YaHei"/>
                <a:ea typeface="Microsoft YaHei"/>
              </a:rPr>
              <a:t>02</a:t>
            </a:r>
            <a:r>
              <a:rPr lang="en-US" sz="1700" noProof="1">
                <a:solidFill>
                  <a:srgbClr val="102334"/>
                </a:solidFill>
                <a:latin typeface="Microsoft YaHei"/>
                <a:ea typeface="Microsoft YaHei"/>
              </a:rPr>
              <a:t> 不用上架率推断 GPU 满载</a:t>
            </a:r>
            <a:endParaRPr lang="en-US" sz="1700" noProof="1"/>
          </a:p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700" noProof="1" b="1">
                <a:solidFill>
                  <a:srgbClr val="000000"/>
                </a:solidFill>
                <a:latin typeface="Microsoft YaHei"/>
                <a:ea typeface="Microsoft YaHei"/>
              </a:rPr>
              <a:t>03</a:t>
            </a:r>
            <a:r>
              <a:rPr lang="en-US" sz="1700" noProof="1">
                <a:solidFill>
                  <a:srgbClr val="102334"/>
                </a:solidFill>
                <a:latin typeface="Microsoft YaHei"/>
                <a:ea typeface="Microsoft YaHei"/>
              </a:rPr>
              <a:t> 不把预算、框架额和合同额相加</a:t>
            </a:r>
            <a:endParaRPr lang="en-US" sz="1700" noProof="1"/>
          </a:p>
        </p:txBody>
      </p:sp>
      <p:sp>
        <p:nvSpPr>
          <p:cNvPr id="31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口径参考：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《数字中国发展报告（2025年）》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；本页为研究方法说明。</a:t>
            </a:r>
            <a:endParaRPr lang="en-US" sz="900" noProof="1"/>
          </a:p>
        </p:txBody>
      </p:sp>
      <p:sp>
        <p:nvSpPr>
          <p:cNvPr id="32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03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CAUSAL CHAIN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需求、政策与资源约束共同决定资本开支方向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demand-line-1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2603500" y="23622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7" name="demand-line-2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4851400" y="23622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8" name="demand-line-3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7099300" y="23622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9" name="demand-line-4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9347200" y="23622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10" name="policy-line-1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2603500" y="42799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11" name="policy-line-2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4851400" y="42799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12" name="policy-line-3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7099300" y="42799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13" name="policy-line-4"/>
          <p:cNvSpPr/>
          <p:nvPr>
            <p:extLst>
              <p:ext uri="{F5677B7D-0D2A-4D9B-9A5C-6D8D7D0E5A5D}">
                <pptd:line encoding="base64url">eyJ2aWV3Qm94IjpbNTQsMV0sInBvaW50cyI6IjAsMCA1NCwwIn0</pptd:line>
              </p:ext>
            </p:extLst>
          </p:nvPr>
        </p:nvSpPr>
        <p:spPr>
          <a:xfrm>
            <a:off x="9347200" y="4279900"/>
            <a:ext cx="685800" cy="12700"/>
          </a:xfrm>
          <a:custGeom>
            <a:avLst/>
            <a:gdLst/>
            <a:ahLst/>
            <a:cxnLst/>
            <a:rect l="l" t="t" r="r" b="b"/>
            <a:pathLst>
              <a:path w="54" h="1">
                <a:moveTo>
                  <a:pt x="0" y="0"/>
                </a:moveTo>
                <a:lnTo>
                  <a:pt x="54" y="0"/>
                </a:lnTo>
              </a:path>
            </a:pathLst>
          </a:custGeom>
          <a:noFill/>
          <a:ln w="22860" cap="rnd">
            <a:solidFill>
              <a:srgbClr val="4E8FBD"/>
            </a:solidFill>
            <a:round/>
            <a:tailEnd type="stealth"/>
          </a:ln>
        </p:spPr>
      </p:sp>
      <p:sp>
        <p:nvSpPr>
          <p:cNvPr id="14" name="demand-label"/>
          <p:cNvSpPr txBox="1"/>
          <p:nvPr/>
        </p:nvSpPr>
        <p:spPr>
          <a:xfrm>
            <a:off x="685800" y="1600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需求链</a:t>
            </a:r>
            <a:endParaRPr lang="en-US" sz="1300" noProof="1"/>
          </a:p>
        </p:txBody>
      </p:sp>
      <p:sp>
        <p:nvSpPr>
          <p:cNvPr id="15" name="d1"/>
          <p:cNvSpPr/>
          <p:nvPr/>
        </p:nvSpPr>
        <p:spPr>
          <a:xfrm>
            <a:off x="685800" y="2006600"/>
            <a:ext cx="1917700" cy="7366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16" name="d2"/>
          <p:cNvSpPr/>
          <p:nvPr/>
        </p:nvSpPr>
        <p:spPr>
          <a:xfrm>
            <a:off x="3289300" y="2006600"/>
            <a:ext cx="1562100" cy="7366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7" name="d3"/>
          <p:cNvSpPr/>
          <p:nvPr/>
        </p:nvSpPr>
        <p:spPr>
          <a:xfrm>
            <a:off x="5537200" y="2006600"/>
            <a:ext cx="1562100" cy="7366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8" name="d4"/>
          <p:cNvSpPr/>
          <p:nvPr/>
        </p:nvSpPr>
        <p:spPr>
          <a:xfrm>
            <a:off x="7785100" y="2006600"/>
            <a:ext cx="1562100" cy="7366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9" name="d5"/>
          <p:cNvSpPr/>
          <p:nvPr/>
        </p:nvSpPr>
        <p:spPr>
          <a:xfrm>
            <a:off x="10033000" y="2006600"/>
            <a:ext cx="1473200" cy="736600"/>
          </a:xfrm>
          <a:prstGeom prst="rect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20" name="d1t"/>
          <p:cNvSpPr txBox="1"/>
          <p:nvPr/>
        </p:nvSpPr>
        <p:spPr>
          <a:xfrm>
            <a:off x="685800" y="2006600"/>
            <a:ext cx="19177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模型 / 智能体</a:t>
            </a:r>
            <a:endParaRPr lang="en-US" sz="1500" noProof="1"/>
          </a:p>
        </p:txBody>
      </p:sp>
      <p:sp>
        <p:nvSpPr>
          <p:cNvPr id="21" name="d2t"/>
          <p:cNvSpPr txBox="1"/>
          <p:nvPr/>
        </p:nvSpPr>
        <p:spPr>
          <a:xfrm>
            <a:off x="3289300" y="20066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Token 与并发</a:t>
            </a:r>
            <a:endParaRPr lang="en-US" sz="1500" noProof="1"/>
          </a:p>
        </p:txBody>
      </p:sp>
      <p:sp>
        <p:nvSpPr>
          <p:cNvPr id="22" name="d3t"/>
          <p:cNvSpPr txBox="1"/>
          <p:nvPr/>
        </p:nvSpPr>
        <p:spPr>
          <a:xfrm>
            <a:off x="5537200" y="20066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芯片 / 存储 / 网</a:t>
            </a:r>
            <a:endParaRPr lang="en-US" sz="1500" noProof="1"/>
          </a:p>
        </p:txBody>
      </p:sp>
      <p:sp>
        <p:nvSpPr>
          <p:cNvPr id="23" name="d4t"/>
          <p:cNvSpPr txBox="1"/>
          <p:nvPr/>
        </p:nvSpPr>
        <p:spPr>
          <a:xfrm>
            <a:off x="7785100" y="20066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电力 / 冷却</a:t>
            </a:r>
            <a:endParaRPr lang="en-US" sz="1500" noProof="1"/>
          </a:p>
        </p:txBody>
      </p:sp>
      <p:sp>
        <p:nvSpPr>
          <p:cNvPr id="24" name="d5t"/>
          <p:cNvSpPr txBox="1"/>
          <p:nvPr/>
        </p:nvSpPr>
        <p:spPr>
          <a:xfrm>
            <a:off x="10033000" y="2006600"/>
            <a:ext cx="1473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0B1F33"/>
                </a:solidFill>
                <a:latin typeface="Microsoft YaHei"/>
                <a:ea typeface="Microsoft YaHei"/>
              </a:rPr>
              <a:t>利用率 / 现金流</a:t>
            </a:r>
            <a:endParaRPr lang="en-US" sz="1500" noProof="1"/>
          </a:p>
        </p:txBody>
      </p:sp>
      <p:sp>
        <p:nvSpPr>
          <p:cNvPr id="25" name="policy-label"/>
          <p:cNvSpPr txBox="1"/>
          <p:nvPr/>
        </p:nvSpPr>
        <p:spPr>
          <a:xfrm>
            <a:off x="685800" y="35179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政策链</a:t>
            </a:r>
            <a:endParaRPr lang="en-US" sz="1300" noProof="1"/>
          </a:p>
        </p:txBody>
      </p:sp>
      <p:sp>
        <p:nvSpPr>
          <p:cNvPr id="26" name="p1"/>
          <p:cNvSpPr/>
          <p:nvPr/>
        </p:nvSpPr>
        <p:spPr>
          <a:xfrm>
            <a:off x="685800" y="3924300"/>
            <a:ext cx="1917700" cy="7366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27" name="p2"/>
          <p:cNvSpPr/>
          <p:nvPr/>
        </p:nvSpPr>
        <p:spPr>
          <a:xfrm>
            <a:off x="3289300" y="3924300"/>
            <a:ext cx="1562100" cy="7366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28" name="p3"/>
          <p:cNvSpPr/>
          <p:nvPr/>
        </p:nvSpPr>
        <p:spPr>
          <a:xfrm>
            <a:off x="5537200" y="3924300"/>
            <a:ext cx="1562100" cy="7366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29" name="p4"/>
          <p:cNvSpPr/>
          <p:nvPr/>
        </p:nvSpPr>
        <p:spPr>
          <a:xfrm>
            <a:off x="7785100" y="3924300"/>
            <a:ext cx="1562100" cy="7366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30" name="p5"/>
          <p:cNvSpPr/>
          <p:nvPr/>
        </p:nvSpPr>
        <p:spPr>
          <a:xfrm>
            <a:off x="10033000" y="3924300"/>
            <a:ext cx="1473200" cy="736600"/>
          </a:xfrm>
          <a:prstGeom prst="rect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31" name="p1t"/>
          <p:cNvSpPr txBox="1"/>
          <p:nvPr/>
        </p:nvSpPr>
        <p:spPr>
          <a:xfrm>
            <a:off x="685800" y="3924300"/>
            <a:ext cx="19177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8枢纽 / 10集群</a:t>
            </a:r>
            <a:endParaRPr lang="en-US" sz="1500" noProof="1"/>
          </a:p>
        </p:txBody>
      </p:sp>
      <p:sp>
        <p:nvSpPr>
          <p:cNvPr id="32" name="p2t"/>
          <p:cNvSpPr txBox="1"/>
          <p:nvPr/>
        </p:nvSpPr>
        <p:spPr>
          <a:xfrm>
            <a:off x="3289300" y="39243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1 / 5 / 20ms</a:t>
            </a:r>
            <a:endParaRPr lang="en-US" sz="1500" noProof="1"/>
          </a:p>
        </p:txBody>
      </p:sp>
      <p:sp>
        <p:nvSpPr>
          <p:cNvPr id="33" name="p3t"/>
          <p:cNvSpPr txBox="1"/>
          <p:nvPr/>
        </p:nvSpPr>
        <p:spPr>
          <a:xfrm>
            <a:off x="5537200" y="39243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异构互联</a:t>
            </a:r>
            <a:endParaRPr lang="en-US" sz="1500" noProof="1"/>
          </a:p>
        </p:txBody>
      </p:sp>
      <p:sp>
        <p:nvSpPr>
          <p:cNvPr id="34" name="p4t"/>
          <p:cNvSpPr txBox="1"/>
          <p:nvPr/>
        </p:nvSpPr>
        <p:spPr>
          <a:xfrm>
            <a:off x="7785100" y="3924300"/>
            <a:ext cx="15621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crosoft YaHei"/>
                <a:ea typeface="Microsoft YaHei"/>
              </a:rPr>
              <a:t>计量 / 结算</a:t>
            </a:r>
            <a:endParaRPr lang="en-US" sz="1500" noProof="1"/>
          </a:p>
        </p:txBody>
      </p:sp>
      <p:sp>
        <p:nvSpPr>
          <p:cNvPr id="35" name="p5t"/>
          <p:cNvSpPr txBox="1"/>
          <p:nvPr/>
        </p:nvSpPr>
        <p:spPr>
          <a:xfrm>
            <a:off x="10033000" y="3924300"/>
            <a:ext cx="1473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0B1F33"/>
                </a:solidFill>
                <a:latin typeface="Microsoft YaHei"/>
                <a:ea typeface="Microsoft YaHei"/>
              </a:rPr>
              <a:t>算电协同</a:t>
            </a:r>
            <a:endParaRPr lang="en-US" sz="1500" noProof="1"/>
          </a:p>
        </p:txBody>
      </p:sp>
      <p:sp>
        <p:nvSpPr>
          <p:cNvPr id="36" name="bottom-rule"/>
          <p:cNvSpPr/>
          <p:nvPr/>
        </p:nvSpPr>
        <p:spPr>
          <a:xfrm>
            <a:off x="685800" y="51435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37" name="tension-left"/>
          <p:cNvSpPr txBox="1"/>
          <p:nvPr/>
        </p:nvSpPr>
        <p:spPr>
          <a:xfrm>
            <a:off x="685800" y="5410200"/>
            <a:ext cx="482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效率约束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000000"/>
                </a:solidFill>
                <a:latin typeface="MiSans"/>
                <a:ea typeface="MiSans"/>
              </a:rPr>
              <a:t>模型压缩与芯片能效提升，降低单位任务算力</a:t>
            </a:r>
            <a:endParaRPr lang="en-US" sz="1600" noProof="1"/>
          </a:p>
        </p:txBody>
      </p:sp>
      <p:sp>
        <p:nvSpPr>
          <p:cNvPr id="38" name="tension-right"/>
          <p:cNvSpPr txBox="1"/>
          <p:nvPr/>
        </p:nvSpPr>
        <p:spPr>
          <a:xfrm>
            <a:off x="6680200" y="5410200"/>
            <a:ext cx="482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需求反弹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000000"/>
                </a:solidFill>
                <a:latin typeface="MiSans"/>
                <a:ea typeface="MiSans"/>
              </a:rPr>
              <a:t>价格下降扩大调用，Token 增长不等于收入同比例增长</a:t>
            </a:r>
            <a:endParaRPr lang="en-US" sz="1600" noProof="1"/>
          </a:p>
        </p:txBody>
      </p:sp>
      <p:sp>
        <p:nvSpPr>
          <p:cNvPr id="39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国家发改委等，全国一体化算力网实施意见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；需求链为本报告研究归纳。</a:t>
            </a:r>
            <a:endParaRPr lang="en-US" sz="900" noProof="1"/>
          </a:p>
        </p:txBody>
      </p:sp>
      <p:sp>
        <p:nvSpPr>
          <p:cNvPr id="40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04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INDUSTRY CHAIN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算力产业链已形成“器件—集群—服务—应用”闭环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arrow-1"/>
          <p:cNvSpPr/>
          <p:nvPr>
            <p:extLst>
              <p:ext uri="{F5677B7D-0D2A-4D9B-9A5C-6D8D7D0E5A5D}">
                <pptd:line encoding="base64url">eyJ2aWV3Qm94IjpbMzIsMV0sInBvaW50cyI6IjAsMCAzMiwwIn0</pptd:line>
              </p:ext>
            </p:extLst>
          </p:nvPr>
        </p:nvSpPr>
        <p:spPr>
          <a:xfrm>
            <a:off x="2654300" y="3556000"/>
            <a:ext cx="406400" cy="12700"/>
          </a:xfrm>
          <a:custGeom>
            <a:avLst/>
            <a:gdLst/>
            <a:ahLst/>
            <a:cxnLst/>
            <a:rect l="l" t="t" r="r" b="b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7" name="arrow-2"/>
          <p:cNvSpPr/>
          <p:nvPr>
            <p:extLst>
              <p:ext uri="{F5677B7D-0D2A-4D9B-9A5C-6D8D7D0E5A5D}">
                <pptd:line encoding="base64url">eyJ2aWV3Qm94IjpbMzIsMV0sInBvaW50cyI6IjAsMCAzMiwwIn0</pptd:line>
              </p:ext>
            </p:extLst>
          </p:nvPr>
        </p:nvSpPr>
        <p:spPr>
          <a:xfrm>
            <a:off x="4889500" y="3556000"/>
            <a:ext cx="406400" cy="12700"/>
          </a:xfrm>
          <a:custGeom>
            <a:avLst/>
            <a:gdLst/>
            <a:ahLst/>
            <a:cxnLst/>
            <a:rect l="l" t="t" r="r" b="b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8" name="arrow-3"/>
          <p:cNvSpPr/>
          <p:nvPr>
            <p:extLst>
              <p:ext uri="{F5677B7D-0D2A-4D9B-9A5C-6D8D7D0E5A5D}">
                <pptd:line encoding="base64url">eyJ2aWV3Qm94IjpbMzIsMV0sInBvaW50cyI6IjAsMCAzMiwwIn0</pptd:line>
              </p:ext>
            </p:extLst>
          </p:nvPr>
        </p:nvSpPr>
        <p:spPr>
          <a:xfrm>
            <a:off x="7124700" y="3556000"/>
            <a:ext cx="406400" cy="12700"/>
          </a:xfrm>
          <a:custGeom>
            <a:avLst/>
            <a:gdLst/>
            <a:ahLst/>
            <a:cxnLst/>
            <a:rect l="l" t="t" r="r" b="b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9" name="arrow-4"/>
          <p:cNvSpPr/>
          <p:nvPr>
            <p:extLst>
              <p:ext uri="{F5677B7D-0D2A-4D9B-9A5C-6D8D7D0E5A5D}">
                <pptd:line encoding="base64url">eyJ2aWV3Qm94IjpbMzIsMV0sInBvaW50cyI6IjAsMCAzMiwwIn0</pptd:line>
              </p:ext>
            </p:extLst>
          </p:nvPr>
        </p:nvSpPr>
        <p:spPr>
          <a:xfrm>
            <a:off x="9359900" y="3556000"/>
            <a:ext cx="406400" cy="12700"/>
          </a:xfrm>
          <a:custGeom>
            <a:avLst/>
            <a:gdLst/>
            <a:ahLst/>
            <a:cxnLst/>
            <a:rect l="l" t="t" r="r" b="b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10" name="lane-1"/>
          <p:cNvSpPr/>
          <p:nvPr/>
        </p:nvSpPr>
        <p:spPr>
          <a:xfrm>
            <a:off x="685800" y="1778000"/>
            <a:ext cx="1968500" cy="355600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1E8"/>
            </a:solidFill>
          </a:ln>
        </p:spPr>
      </p:sp>
      <p:sp>
        <p:nvSpPr>
          <p:cNvPr id="11" name="lane-2"/>
          <p:cNvSpPr/>
          <p:nvPr/>
        </p:nvSpPr>
        <p:spPr>
          <a:xfrm>
            <a:off x="2921000" y="1778000"/>
            <a:ext cx="1968500" cy="355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9E1E8"/>
            </a:solidFill>
          </a:ln>
        </p:spPr>
      </p:sp>
      <p:sp>
        <p:nvSpPr>
          <p:cNvPr id="12" name="lane-3"/>
          <p:cNvSpPr/>
          <p:nvPr/>
        </p:nvSpPr>
        <p:spPr>
          <a:xfrm>
            <a:off x="5156200" y="1778000"/>
            <a:ext cx="1968500" cy="355600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1E8"/>
            </a:solidFill>
          </a:ln>
        </p:spPr>
      </p:sp>
      <p:sp>
        <p:nvSpPr>
          <p:cNvPr id="13" name="lane-4"/>
          <p:cNvSpPr/>
          <p:nvPr/>
        </p:nvSpPr>
        <p:spPr>
          <a:xfrm>
            <a:off x="7391400" y="1778000"/>
            <a:ext cx="1968500" cy="3556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9E1E8"/>
            </a:solidFill>
          </a:ln>
        </p:spPr>
      </p:sp>
      <p:sp>
        <p:nvSpPr>
          <p:cNvPr id="14" name="lane-5"/>
          <p:cNvSpPr/>
          <p:nvPr/>
        </p:nvSpPr>
        <p:spPr>
          <a:xfrm>
            <a:off x="9626600" y="1778000"/>
            <a:ext cx="1879600" cy="355600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1E8"/>
            </a:solidFill>
          </a:ln>
        </p:spPr>
      </p:sp>
      <p:sp>
        <p:nvSpPr>
          <p:cNvPr id="15" name="lane-1-head"/>
          <p:cNvSpPr txBox="1"/>
          <p:nvPr/>
        </p:nvSpPr>
        <p:spPr>
          <a:xfrm>
            <a:off x="838200" y="19812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资源与半导体</a:t>
            </a:r>
            <a:endParaRPr lang="en-US" sz="1300" noProof="1"/>
          </a:p>
        </p:txBody>
      </p:sp>
      <p:sp>
        <p:nvSpPr>
          <p:cNvPr id="16" name="lane-1-body"/>
          <p:cNvSpPr txBox="1"/>
          <p:nvPr/>
        </p:nvSpPr>
        <p:spPr>
          <a:xfrm>
            <a:off x="863600" y="2527300"/>
            <a:ext cx="1612900" cy="238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电力 / 绿电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土地 · 水 · 资本</a:t>
            </a:r>
            <a:endParaRPr lang="en-US" sz="15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EDA / IP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设备 · 材料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晶圆 · 先进封装</a:t>
            </a:r>
            <a:endParaRPr lang="en-US" sz="1500" noProof="1"/>
          </a:p>
        </p:txBody>
      </p:sp>
      <p:sp>
        <p:nvSpPr>
          <p:cNvPr id="17" name="lane-2-head"/>
          <p:cNvSpPr txBox="1"/>
          <p:nvPr/>
        </p:nvSpPr>
        <p:spPr>
          <a:xfrm>
            <a:off x="3073400" y="19812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核心器件</a:t>
            </a:r>
            <a:endParaRPr lang="en-US" sz="1300" noProof="1"/>
          </a:p>
        </p:txBody>
      </p:sp>
      <p:sp>
        <p:nvSpPr>
          <p:cNvPr id="18" name="lane-2-body"/>
          <p:cNvSpPr txBox="1"/>
          <p:nvPr/>
        </p:nvSpPr>
        <p:spPr>
          <a:xfrm>
            <a:off x="3098800" y="2527300"/>
            <a:ext cx="1612900" cy="238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CPU / GPU / NPU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DPU · 交换 ASIC</a:t>
            </a:r>
            <a:endParaRPr lang="en-US" sz="15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HBM / DDR / SSD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光芯片 · DSP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PCB · 覆铜板</a:t>
            </a:r>
            <a:endParaRPr lang="en-US" sz="1500" noProof="1"/>
          </a:p>
        </p:txBody>
      </p:sp>
      <p:sp>
        <p:nvSpPr>
          <p:cNvPr id="19" name="lane-3-head"/>
          <p:cNvSpPr txBox="1"/>
          <p:nvPr/>
        </p:nvSpPr>
        <p:spPr>
          <a:xfrm>
            <a:off x="5308600" y="19812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系统与设施</a:t>
            </a:r>
            <a:endParaRPr lang="en-US" sz="1300" noProof="1"/>
          </a:p>
        </p:txBody>
      </p:sp>
      <p:sp>
        <p:nvSpPr>
          <p:cNvPr id="20" name="lane-3-body"/>
          <p:cNvSpPr txBox="1"/>
          <p:nvPr/>
        </p:nvSpPr>
        <p:spPr>
          <a:xfrm>
            <a:off x="5334000" y="2527300"/>
            <a:ext cx="1612900" cy="238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AI服务器 / 超节点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交换机 · 光模块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存储系统</a:t>
            </a:r>
            <a:endParaRPr lang="en-US" sz="15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UPS / HVDC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液冷 · 消防</a:t>
            </a:r>
            <a:endParaRPr lang="en-US" sz="1500" noProof="1"/>
          </a:p>
        </p:txBody>
      </p:sp>
      <p:sp>
        <p:nvSpPr>
          <p:cNvPr id="21" name="lane-4-head"/>
          <p:cNvSpPr txBox="1"/>
          <p:nvPr/>
        </p:nvSpPr>
        <p:spPr>
          <a:xfrm>
            <a:off x="7543800" y="19812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建设与运营</a:t>
            </a:r>
            <a:endParaRPr lang="en-US" sz="1300" noProof="1"/>
          </a:p>
        </p:txBody>
      </p:sp>
      <p:sp>
        <p:nvSpPr>
          <p:cNvPr id="22" name="lane-4-body"/>
          <p:cNvSpPr txBox="1"/>
          <p:nvPr/>
        </p:nvSpPr>
        <p:spPr>
          <a:xfrm>
            <a:off x="7569200" y="2527300"/>
            <a:ext cx="1612900" cy="238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设计 / EPC / 集成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IDC · AIDC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云 · 算力租赁</a:t>
            </a:r>
            <a:endParaRPr lang="en-US" sz="15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算力网络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监测 · 调度 · 结算</a:t>
            </a:r>
            <a:endParaRPr lang="en-US" sz="1500" noProof="1"/>
          </a:p>
        </p:txBody>
      </p:sp>
      <p:sp>
        <p:nvSpPr>
          <p:cNvPr id="23" name="lane-5-head"/>
          <p:cNvSpPr txBox="1"/>
          <p:nvPr/>
        </p:nvSpPr>
        <p:spPr>
          <a:xfrm>
            <a:off x="9779000" y="1981200"/>
            <a:ext cx="1574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模型与应用</a:t>
            </a:r>
            <a:endParaRPr lang="en-US" sz="1300" noProof="1"/>
          </a:p>
        </p:txBody>
      </p:sp>
      <p:sp>
        <p:nvSpPr>
          <p:cNvPr id="24" name="lane-5-body"/>
          <p:cNvSpPr txBox="1"/>
          <p:nvPr/>
        </p:nvSpPr>
        <p:spPr>
          <a:xfrm>
            <a:off x="9804400" y="2527300"/>
            <a:ext cx="1524000" cy="238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基础模型 / MaaS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训练 · 推理 · API</a:t>
            </a:r>
            <a:endParaRPr lang="en-US" sz="1500" noProof="1"/>
          </a:p>
          <a:p>
            <a:pPr>
              <a:lnSpc>
                <a:spcPct val="155000"/>
              </a:lnSpc>
              <a:spcBef>
                <a:spcPts val="1600"/>
              </a:spcBef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行业应用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政务 · 金融 · 制造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科研 · 汽车 · 机器人</a:t>
            </a:r>
            <a:endParaRPr lang="en-US" sz="1500" noProof="1"/>
          </a:p>
        </p:txBody>
      </p:sp>
      <p:sp>
        <p:nvSpPr>
          <p:cNvPr id="25" name="support-bar"/>
          <p:cNvSpPr/>
          <p:nvPr/>
        </p:nvSpPr>
        <p:spPr>
          <a:xfrm>
            <a:off x="685800" y="5638800"/>
            <a:ext cx="10820400" cy="4826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26" name="support-text"/>
          <p:cNvSpPr txBox="1"/>
          <p:nvPr/>
        </p:nvSpPr>
        <p:spPr>
          <a:xfrm>
            <a:off x="889000" y="56388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横向支撑：数据 · 安全 · 标准 · 测试评测 · 运维 · 融资与合规</a:t>
            </a:r>
            <a:endParaRPr lang="en-US" sz="1400" noProof="1"/>
          </a:p>
        </p:txBody>
      </p:sp>
      <p:sp>
        <p:nvSpPr>
          <p:cNvPr id="27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来源：基于公开产品资料、行业标准与本报告产业链研究归纳；公司仅作产业位置示例。</a:t>
            </a:r>
            <a:endParaRPr lang="en-US" sz="900" noProof="1"/>
          </a:p>
        </p:txBody>
      </p:sp>
      <p:sp>
        <p:nvSpPr>
          <p:cNvPr id="28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05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BOTTLENECKS &amp; ECONOMICS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高密度智算把瓶颈推向芯片、互连、电力和冷却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left-head"/>
          <p:cNvSpPr txBox="1"/>
          <p:nvPr/>
        </p:nvSpPr>
        <p:spPr>
          <a:xfrm>
            <a:off x="685800" y="1600200"/>
            <a:ext cx="2984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稀缺性与系统影响</a:t>
            </a:r>
            <a:endParaRPr lang="en-US" sz="1800" noProof="1"/>
          </a:p>
        </p:txBody>
      </p:sp>
      <p:sp>
        <p:nvSpPr>
          <p:cNvPr id="7" name="bar-1"/>
          <p:cNvSpPr/>
          <p:nvPr/>
        </p:nvSpPr>
        <p:spPr>
          <a:xfrm>
            <a:off x="685800" y="2209800"/>
            <a:ext cx="3022600" cy="4318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8" name="bar-1t"/>
          <p:cNvSpPr txBox="1"/>
          <p:nvPr/>
        </p:nvSpPr>
        <p:spPr>
          <a:xfrm>
            <a:off x="825500" y="22098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AI芯片 / HBM / 软件生态</a:t>
            </a:r>
            <a:endParaRPr lang="en-US" sz="1400" noProof="1"/>
          </a:p>
        </p:txBody>
      </p:sp>
      <p:sp>
        <p:nvSpPr>
          <p:cNvPr id="9" name="bar-2"/>
          <p:cNvSpPr/>
          <p:nvPr/>
        </p:nvSpPr>
        <p:spPr>
          <a:xfrm>
            <a:off x="685800" y="2819400"/>
            <a:ext cx="2667000" cy="4318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0" name="bar-2t"/>
          <p:cNvSpPr txBox="1"/>
          <p:nvPr/>
        </p:nvSpPr>
        <p:spPr>
          <a:xfrm>
            <a:off x="825500" y="2819400"/>
            <a:ext cx="2463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高速互连 / 光模块 / PCB</a:t>
            </a:r>
            <a:endParaRPr lang="en-US" sz="1400" noProof="1"/>
          </a:p>
        </p:txBody>
      </p:sp>
      <p:sp>
        <p:nvSpPr>
          <p:cNvPr id="11" name="bar-3"/>
          <p:cNvSpPr/>
          <p:nvPr/>
        </p:nvSpPr>
        <p:spPr>
          <a:xfrm>
            <a:off x="685800" y="3429000"/>
            <a:ext cx="2324100" cy="4318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2" name="bar-3t"/>
          <p:cNvSpPr txBox="1"/>
          <p:nvPr/>
        </p:nvSpPr>
        <p:spPr>
          <a:xfrm>
            <a:off x="825500" y="3429000"/>
            <a:ext cx="213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crosoft YaHei"/>
                <a:ea typeface="Microsoft YaHei"/>
              </a:rPr>
              <a:t>供配电 / 液冷</a:t>
            </a:r>
            <a:endParaRPr lang="en-US" sz="1400" noProof="1"/>
          </a:p>
        </p:txBody>
      </p:sp>
      <p:sp>
        <p:nvSpPr>
          <p:cNvPr id="13" name="bar-4"/>
          <p:cNvSpPr/>
          <p:nvPr/>
        </p:nvSpPr>
        <p:spPr>
          <a:xfrm>
            <a:off x="685800" y="4038600"/>
            <a:ext cx="1981200" cy="431800"/>
          </a:xfrm>
          <a:prstGeom prst="rect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4" name="bar-4t"/>
          <p:cNvSpPr txBox="1"/>
          <p:nvPr/>
        </p:nvSpPr>
        <p:spPr>
          <a:xfrm>
            <a:off x="825500" y="4038600"/>
            <a:ext cx="1803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0B1F33"/>
                </a:solidFill>
                <a:latin typeface="Microsoft YaHei"/>
                <a:ea typeface="Microsoft YaHei"/>
              </a:rPr>
              <a:t>服务器 / 集成</a:t>
            </a:r>
            <a:endParaRPr lang="en-US" sz="1400" noProof="1"/>
          </a:p>
        </p:txBody>
      </p:sp>
      <p:sp>
        <p:nvSpPr>
          <p:cNvPr id="15" name="bar-5"/>
          <p:cNvSpPr/>
          <p:nvPr/>
        </p:nvSpPr>
        <p:spPr>
          <a:xfrm>
            <a:off x="685800" y="4648200"/>
            <a:ext cx="1638300" cy="431800"/>
          </a:xfrm>
          <a:prstGeom prst="rect">
            <a:avLst/>
          </a:prstGeom>
          <a:solidFill>
            <a:srgbClr val="EEF3F6"/>
          </a:solidFill>
          <a:ln w="12700">
            <a:solidFill>
              <a:srgbClr val="9BC2DD"/>
            </a:solidFill>
          </a:ln>
        </p:spPr>
      </p:sp>
      <p:sp>
        <p:nvSpPr>
          <p:cNvPr id="16" name="bar-5t"/>
          <p:cNvSpPr txBox="1"/>
          <p:nvPr/>
        </p:nvSpPr>
        <p:spPr>
          <a:xfrm>
            <a:off x="825500" y="4648200"/>
            <a:ext cx="14605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0B1F33"/>
                </a:solidFill>
                <a:latin typeface="Microsoft YaHei"/>
                <a:ea typeface="Microsoft YaHei"/>
              </a:rPr>
              <a:t>IDC / 云服务</a:t>
            </a:r>
            <a:endParaRPr lang="en-US" sz="1400" noProof="1"/>
          </a:p>
        </p:txBody>
      </p:sp>
      <p:sp>
        <p:nvSpPr>
          <p:cNvPr id="17" name="left-note"/>
          <p:cNvSpPr txBox="1"/>
          <p:nvPr/>
        </p:nvSpPr>
        <p:spPr>
          <a:xfrm>
            <a:off x="685800" y="5397500"/>
            <a:ext cx="3111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5A6B7A"/>
                </a:solidFill>
                <a:latin typeface="Microsoft YaHei"/>
                <a:ea typeface="Microsoft YaHei"/>
              </a:rPr>
              <a:t>条形长度仅表达系统影响和短期稀缺性的相对判断，不代表收入、利润率或估值。</a:t>
            </a:r>
            <a:endParaRPr lang="en-US" sz="1100" noProof="1"/>
          </a:p>
        </p:txBody>
      </p:sp>
      <p:graphicFrame>
        <p:nvGraphicFramePr>
          <p:cNvPr id="18" name="econ-table"/>
          <p:cNvGraphicFramePr>
            <a:graphicFrameLocks noGrp="1"/>
          </p:cNvGraphicFramePr>
          <p:nvPr/>
        </p:nvGraphicFramePr>
        <p:xfrm>
          <a:off x="4191000" y="1676400"/>
          <a:ext cx="7315200" cy="4038600"/>
        </p:xfrm>
        <a:graphic>
          <a:graphicData uri="http://schemas.openxmlformats.org/drawingml/2006/table">
            <a:tbl>
              <a:tblPr/>
              <a:tblGrid>
                <a:gridCol w="1682496"/>
                <a:gridCol w="2194560"/>
                <a:gridCol w="3438144"/>
              </a:tblGrid>
              <a:tr h="56540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收入模式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最应跟踪的变量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</a:tr>
              <a:tr h="69463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芯片与生态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芯片、板卡、软件支持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供货、性能/功耗、编译器/算子、客户迁移成本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63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互连与PCB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模块、交换机、板卡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400G/800G/1.6T代际、良率、客户结构与扩产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69463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供配电与液冷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设备销售 + 运维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单柜kW、液冷渗透、可靠性、PUE/WUE与存量改造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463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服务器与集成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硬件、整柜、交付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集群效率、验收、部件转售占比、毛利与应收账款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694639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IDC / 云 / 调度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kW/MW、实例、Token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签约、利用率、价格、资本成本、续约与跨平台成交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key-line"/>
          <p:cNvSpPr/>
          <p:nvPr/>
        </p:nvSpPr>
        <p:spPr>
          <a:xfrm>
            <a:off x="4191000" y="5943600"/>
            <a:ext cx="731520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20" name="key-copy"/>
          <p:cNvSpPr txBox="1"/>
          <p:nvPr/>
        </p:nvSpPr>
        <p:spPr>
          <a:xfrm>
            <a:off x="4191000" y="6045200"/>
            <a:ext cx="731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B1F33"/>
                </a:solidFill>
                <a:latin typeface="Microsoft YaHei"/>
                <a:ea typeface="Microsoft YaHei"/>
              </a:rPr>
              <a:t>服务器销售额常含部件转售；IDC价值取决于客户、利用率与融资成本。</a:t>
            </a:r>
            <a:endParaRPr lang="en-US" sz="1400" noProof="1"/>
          </a:p>
        </p:txBody>
      </p:sp>
      <p:sp>
        <p:nvSpPr>
          <p:cNvPr id="21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参考：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中国信通院《绿色算力发展研究报告（2025）》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；经济性判断为本报告归纳。</a:t>
            </a:r>
            <a:endParaRPr lang="en-US" sz="900" noProof="1"/>
          </a:p>
        </p:txBody>
      </p:sp>
      <p:sp>
        <p:nvSpPr>
          <p:cNvPr id="22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POLICY EVOLUTION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政策重心已转向互联、调度、交易与算电协同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timeline"/>
          <p:cNvSpPr/>
          <p:nvPr>
            <p:extLst>
              <p:ext uri="{F5677B7D-0D2A-4D9B-9A5C-6D8D7D0E5A5D}">
                <pptd:line encoding="base64url">eyJ2aWV3Qm94IjpbODA2LDFdLCJwb2ludHMiOiIwLDAgODA2LDAifQ</pptd:line>
              </p:ext>
            </p:extLst>
          </p:nvPr>
        </p:nvSpPr>
        <p:spPr>
          <a:xfrm>
            <a:off x="965200" y="3200400"/>
            <a:ext cx="10236200" cy="12700"/>
          </a:xfrm>
          <a:custGeom>
            <a:avLst/>
            <a:gdLst/>
            <a:ahLst/>
            <a:cxnLst/>
            <a:rect l="l" t="t" r="r" b="b"/>
            <a:pathLst>
              <a:path w="806" h="1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27940" cap="rnd">
            <a:solidFill>
              <a:srgbClr val="4E8FBD"/>
            </a:solidFill>
            <a:round/>
            <a:tailEnd type="stealth"/>
          </a:ln>
        </p:spPr>
      </p:sp>
      <p:sp>
        <p:nvSpPr>
          <p:cNvPr id="7" name="tick-1"/>
          <p:cNvSpPr/>
          <p:nvPr/>
        </p:nvSpPr>
        <p:spPr>
          <a:xfrm>
            <a:off x="1168400" y="3098800"/>
            <a:ext cx="215900" cy="21590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8" name="tick-2"/>
          <p:cNvSpPr/>
          <p:nvPr/>
        </p:nvSpPr>
        <p:spPr>
          <a:xfrm>
            <a:off x="2768600" y="3098800"/>
            <a:ext cx="215900" cy="2159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9" name="tick-3"/>
          <p:cNvSpPr/>
          <p:nvPr/>
        </p:nvSpPr>
        <p:spPr>
          <a:xfrm>
            <a:off x="4368800" y="3098800"/>
            <a:ext cx="215900" cy="2159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0" name="tick-4"/>
          <p:cNvSpPr/>
          <p:nvPr/>
        </p:nvSpPr>
        <p:spPr>
          <a:xfrm>
            <a:off x="5969000" y="3098800"/>
            <a:ext cx="215900" cy="2159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1" name="tick-5"/>
          <p:cNvSpPr/>
          <p:nvPr/>
        </p:nvSpPr>
        <p:spPr>
          <a:xfrm>
            <a:off x="7569200" y="3098800"/>
            <a:ext cx="215900" cy="2159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2" name="tick-6"/>
          <p:cNvSpPr/>
          <p:nvPr/>
        </p:nvSpPr>
        <p:spPr>
          <a:xfrm>
            <a:off x="9169400" y="3098800"/>
            <a:ext cx="215900" cy="2159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3" name="tick-7"/>
          <p:cNvSpPr/>
          <p:nvPr/>
        </p:nvSpPr>
        <p:spPr>
          <a:xfrm>
            <a:off x="10769600" y="3098800"/>
            <a:ext cx="215900" cy="215900"/>
          </a:xfrm>
          <a:prstGeom prst="ellipse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4" name="t1"/>
          <p:cNvSpPr txBox="1"/>
          <p:nvPr/>
        </p:nvSpPr>
        <p:spPr>
          <a:xfrm>
            <a:off x="762000" y="1803400"/>
            <a:ext cx="1168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2020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全国一体化数据中心体系</a:t>
            </a:r>
            <a:endParaRPr lang="en-US" sz="1600" noProof="1"/>
          </a:p>
        </p:txBody>
      </p:sp>
      <p:sp>
        <p:nvSpPr>
          <p:cNvPr id="15" name="t2"/>
          <p:cNvSpPr txBox="1"/>
          <p:nvPr/>
        </p:nvSpPr>
        <p:spPr>
          <a:xfrm>
            <a:off x="2260600" y="3632200"/>
            <a:ext cx="1397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2021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国家枢纽骨架成型</a:t>
            </a:r>
            <a:endParaRPr lang="en-US" sz="1600" noProof="1"/>
          </a:p>
        </p:txBody>
      </p:sp>
      <p:sp>
        <p:nvSpPr>
          <p:cNvPr id="16" name="t3"/>
          <p:cNvSpPr txBox="1"/>
          <p:nvPr/>
        </p:nvSpPr>
        <p:spPr>
          <a:xfrm>
            <a:off x="3860800" y="1803400"/>
            <a:ext cx="1397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2022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东数西算：8枢纽10集群</a:t>
            </a:r>
            <a:endParaRPr lang="en-US" sz="1600" noProof="1"/>
          </a:p>
        </p:txBody>
      </p:sp>
      <p:sp>
        <p:nvSpPr>
          <p:cNvPr id="17" name="t4"/>
          <p:cNvSpPr txBox="1"/>
          <p:nvPr/>
        </p:nvSpPr>
        <p:spPr>
          <a:xfrm>
            <a:off x="5461000" y="3632200"/>
            <a:ext cx="1397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2023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量化目标 + 1/5/20ms算力网</a:t>
            </a:r>
            <a:endParaRPr lang="en-US" sz="1600" noProof="1"/>
          </a:p>
        </p:txBody>
      </p:sp>
      <p:sp>
        <p:nvSpPr>
          <p:cNvPr id="18" name="t5"/>
          <p:cNvSpPr txBox="1"/>
          <p:nvPr/>
        </p:nvSpPr>
        <p:spPr>
          <a:xfrm>
            <a:off x="7061200" y="1803400"/>
            <a:ext cx="1397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2024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上架率、PUE与绿电约束</a:t>
            </a:r>
            <a:endParaRPr lang="en-US" sz="1600" noProof="1"/>
          </a:p>
        </p:txBody>
      </p:sp>
      <p:sp>
        <p:nvSpPr>
          <p:cNvPr id="19" name="t6"/>
          <p:cNvSpPr txBox="1"/>
          <p:nvPr/>
        </p:nvSpPr>
        <p:spPr>
          <a:xfrm>
            <a:off x="8661400" y="3632200"/>
            <a:ext cx="1397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2025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互联标识、计量与结算</a:t>
            </a:r>
            <a:endParaRPr lang="en-US" sz="1600" noProof="1"/>
          </a:p>
        </p:txBody>
      </p:sp>
      <p:sp>
        <p:nvSpPr>
          <p:cNvPr id="20" name="t7"/>
          <p:cNvSpPr txBox="1"/>
          <p:nvPr/>
        </p:nvSpPr>
        <p:spPr>
          <a:xfrm>
            <a:off x="10236200" y="1803400"/>
            <a:ext cx="1270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2026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毫秒用算、普惠算力、零碳</a:t>
            </a:r>
            <a:endParaRPr lang="en-US" sz="1600" noProof="1"/>
          </a:p>
        </p:txBody>
      </p:sp>
      <p:sp>
        <p:nvSpPr>
          <p:cNvPr id="21" name="lower-rule"/>
          <p:cNvSpPr/>
          <p:nvPr/>
        </p:nvSpPr>
        <p:spPr>
          <a:xfrm>
            <a:off x="685800" y="5207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22" name="milestone-1"/>
          <p:cNvSpPr txBox="1"/>
          <p:nvPr/>
        </p:nvSpPr>
        <p:spPr>
          <a:xfrm>
            <a:off x="685800" y="5435600"/>
            <a:ext cx="4953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已发生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2025年八大枢纽新增算力与智算占比均超过80%</a:t>
            </a:r>
            <a:endParaRPr lang="en-US" sz="1600" noProof="1"/>
          </a:p>
        </p:txBody>
      </p:sp>
      <p:sp>
        <p:nvSpPr>
          <p:cNvPr id="23" name="milestone-2"/>
          <p:cNvSpPr txBox="1"/>
          <p:nvPr/>
        </p:nvSpPr>
        <p:spPr>
          <a:xfrm>
            <a:off x="6553200" y="5435600"/>
            <a:ext cx="4953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仍是目标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2028年公共算力标准化互联尚未完成</a:t>
            </a:r>
            <a:endParaRPr lang="en-US" sz="1600" noProof="1"/>
          </a:p>
        </p:txBody>
      </p:sp>
      <p:sp>
        <p:nvSpPr>
          <p:cNvPr id="24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国家发改委“东数西算”答记者问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3"/>
              </a:rPr>
              <a:t>工信部算力互联互通行动计划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。</a:t>
            </a:r>
            <a:endParaRPr lang="en-US" sz="900" noProof="1"/>
          </a:p>
        </p:txBody>
      </p:sp>
      <p:sp>
        <p:nvSpPr>
          <p:cNvPr id="25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07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GEOGRAPHY &amp; TASK FIT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西部承接训练与离线任务，东部仍控制低时延需求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graphicFrame>
        <p:nvGraphicFramePr>
          <p:cNvPr id="6" name="region-chart"/>
          <p:cNvGraphicFramePr/>
          <p:nvPr/>
        </p:nvGraphicFramePr>
        <p:xfrm>
          <a:off x="685800" y="1676400"/>
          <a:ext cx="4851400" cy="39624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7" name="chart-label"/>
          <p:cNvSpPr txBox="1"/>
          <p:nvPr/>
        </p:nvSpPr>
        <p:spPr>
          <a:xfrm>
            <a:off x="1625600" y="31369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200" noProof="1" b="1">
                <a:solidFill>
                  <a:srgbClr val="000000"/>
                </a:solidFill>
                <a:latin typeface="MiSans"/>
                <a:ea typeface="MiSans"/>
              </a:rPr>
              <a:t>2026 H1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智能算力区域结构</a:t>
            </a:r>
            <a:endParaRPr lang="en-US" sz="1600" noProof="1"/>
          </a:p>
        </p:txBody>
      </p:sp>
      <p:sp>
        <p:nvSpPr>
          <p:cNvPr id="8" name="right-head"/>
          <p:cNvSpPr txBox="1"/>
          <p:nvPr/>
        </p:nvSpPr>
        <p:spPr>
          <a:xfrm>
            <a:off x="6096000" y="1651000"/>
            <a:ext cx="5410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8个国家枢纽 · 10个数据中心集群</a:t>
            </a:r>
            <a:endParaRPr lang="en-US" sz="1800" noProof="1"/>
          </a:p>
        </p:txBody>
      </p:sp>
      <p:sp>
        <p:nvSpPr>
          <p:cNvPr id="9" name="hub-line"/>
          <p:cNvSpPr/>
          <p:nvPr/>
        </p:nvSpPr>
        <p:spPr>
          <a:xfrm>
            <a:off x="6096000" y="2146300"/>
            <a:ext cx="54102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0" name="hubs-left"/>
          <p:cNvSpPr txBox="1"/>
          <p:nvPr/>
        </p:nvSpPr>
        <p:spPr>
          <a:xfrm>
            <a:off x="6096000" y="2374900"/>
            <a:ext cx="2565400" cy="260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京津冀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｜张家口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长三角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｜示范区、芜湖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粤港澳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｜韶关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成渝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｜天府、重庆</a:t>
            </a:r>
            <a:endParaRPr lang="en-US" sz="1500" noProof="1"/>
          </a:p>
        </p:txBody>
      </p:sp>
      <p:sp>
        <p:nvSpPr>
          <p:cNvPr id="11" name="hubs-right"/>
          <p:cNvSpPr txBox="1"/>
          <p:nvPr/>
        </p:nvSpPr>
        <p:spPr>
          <a:xfrm>
            <a:off x="8940800" y="2374900"/>
            <a:ext cx="2565400" cy="260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内蒙古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｜和林格尔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贵州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｜贵安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甘肃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｜庆阳</a:t>
            </a:r>
            <a:endParaRPr lang="en-US" sz="1500" noProof="1"/>
          </a:p>
          <a:p>
            <a:pPr>
              <a:lnSpc>
                <a:spcPct val="15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宁夏</a:t>
            </a: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｜中卫</a:t>
            </a:r>
            <a:endParaRPr lang="en-US" sz="1500" noProof="1"/>
          </a:p>
        </p:txBody>
      </p:sp>
      <p:sp>
        <p:nvSpPr>
          <p:cNvPr id="12" name="fit-rule"/>
          <p:cNvSpPr/>
          <p:nvPr/>
        </p:nvSpPr>
        <p:spPr>
          <a:xfrm>
            <a:off x="6096000" y="5143500"/>
            <a:ext cx="54102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3" name="fit-left"/>
          <p:cNvSpPr txBox="1"/>
          <p:nvPr/>
        </p:nvSpPr>
        <p:spPr>
          <a:xfrm>
            <a:off x="6096000" y="5334000"/>
            <a:ext cx="2590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靠近需求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推理、金融、工业控制、实时交互</a:t>
            </a:r>
            <a:endParaRPr lang="en-US" sz="1600" noProof="1"/>
          </a:p>
        </p:txBody>
      </p:sp>
      <p:sp>
        <p:nvSpPr>
          <p:cNvPr id="14" name="fit-right"/>
          <p:cNvSpPr txBox="1"/>
          <p:nvPr/>
        </p:nvSpPr>
        <p:spPr>
          <a:xfrm>
            <a:off x="8940800" y="5334000"/>
            <a:ext cx="2565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靠近能源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大训练、离线分析、渲染、备份</a:t>
            </a:r>
            <a:endParaRPr lang="en-US" sz="1600" noProof="1"/>
          </a:p>
        </p:txBody>
      </p:sp>
      <p:sp>
        <p:nvSpPr>
          <p:cNvPr id="15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3"/>
              </a:rPr>
              <a:t>工信部，2026年6月底地区占比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4"/>
              </a:rPr>
              <a:t>国家发改委，任务分层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。</a:t>
            </a:r>
            <a:endParaRPr lang="en-US" sz="900" noProof="1"/>
          </a:p>
        </p:txBody>
      </p:sp>
      <p:sp>
        <p:nvSpPr>
          <p:cNvPr id="16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08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FROM VISIBILITY TO USABILITY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监测覆盖扩大，但可调度仍只是平台能力的一部分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left-head"/>
          <p:cNvSpPr txBox="1"/>
          <p:nvPr/>
        </p:nvSpPr>
        <p:spPr>
          <a:xfrm>
            <a:off x="685800" y="1638300"/>
            <a:ext cx="660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全国一体化算力网平台｜2025年底披露</a:t>
            </a:r>
            <a:endParaRPr lang="en-US" sz="1800" noProof="1"/>
          </a:p>
        </p:txBody>
      </p:sp>
      <p:sp>
        <p:nvSpPr>
          <p:cNvPr id="7" name="bar-total"/>
          <p:cNvSpPr/>
          <p:nvPr/>
        </p:nvSpPr>
        <p:spPr>
          <a:xfrm>
            <a:off x="685800" y="2336800"/>
            <a:ext cx="6350000" cy="6858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8" name="bar-total-t"/>
          <p:cNvSpPr txBox="1"/>
          <p:nvPr/>
        </p:nvSpPr>
        <p:spPr>
          <a:xfrm>
            <a:off x="889000" y="2336800"/>
            <a:ext cx="596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FFFFFF"/>
                </a:solidFill>
                <a:latin typeface="MiSans"/>
                <a:ea typeface="MiSans"/>
              </a:rPr>
              <a:t>102万 PFLOPS</a:t>
            </a:r>
            <a:r>
              <a:rPr lang="en-US" sz="1400" noProof="1">
                <a:solidFill>
                  <a:srgbClr val="C7D8E6"/>
                </a:solidFill>
                <a:latin typeface="MiSans"/>
                <a:ea typeface="MiSans"/>
              </a:rPr>
              <a:t> 监测总算力</a:t>
            </a:r>
            <a:endParaRPr lang="en-US" sz="1600" noProof="1"/>
          </a:p>
        </p:txBody>
      </p:sp>
      <p:sp>
        <p:nvSpPr>
          <p:cNvPr id="9" name="bar-smart"/>
          <p:cNvSpPr/>
          <p:nvPr/>
        </p:nvSpPr>
        <p:spPr>
          <a:xfrm>
            <a:off x="685800" y="3276600"/>
            <a:ext cx="5194300" cy="6858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0" name="bar-smart-t"/>
          <p:cNvSpPr txBox="1"/>
          <p:nvPr/>
        </p:nvSpPr>
        <p:spPr>
          <a:xfrm>
            <a:off x="889000" y="3276600"/>
            <a:ext cx="4826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FFFFFF"/>
                </a:solidFill>
                <a:latin typeface="MiSans"/>
                <a:ea typeface="MiSans"/>
              </a:rPr>
              <a:t>83.4万 PFLOPS</a:t>
            </a:r>
            <a:r>
              <a:rPr lang="en-US" sz="1400" noProof="1">
                <a:solidFill>
                  <a:srgbClr val="D8E8F2"/>
                </a:solidFill>
                <a:latin typeface="MiSans"/>
                <a:ea typeface="MiSans"/>
              </a:rPr>
              <a:t> 其中智算</a:t>
            </a:r>
            <a:endParaRPr lang="en-US" sz="1600" noProof="1"/>
          </a:p>
        </p:txBody>
      </p:sp>
      <p:sp>
        <p:nvSpPr>
          <p:cNvPr id="11" name="bar-dispatch"/>
          <p:cNvSpPr/>
          <p:nvPr/>
        </p:nvSpPr>
        <p:spPr>
          <a:xfrm>
            <a:off x="685800" y="4216400"/>
            <a:ext cx="1092200" cy="685800"/>
          </a:xfrm>
          <a:prstGeom prst="rect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2" name="bar-dispatch-t"/>
          <p:cNvSpPr txBox="1"/>
          <p:nvPr/>
        </p:nvSpPr>
        <p:spPr>
          <a:xfrm>
            <a:off x="1955800" y="4216400"/>
            <a:ext cx="469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0000"/>
                </a:solidFill>
                <a:latin typeface="MiSans"/>
                <a:ea typeface="MiSans"/>
              </a:rPr>
              <a:t>11万 PFLOPS</a:t>
            </a: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 可调度</a:t>
            </a:r>
            <a:endParaRPr lang="en-US" sz="1600" noProof="1"/>
          </a:p>
        </p:txBody>
      </p:sp>
      <p:sp>
        <p:nvSpPr>
          <p:cNvPr id="13" name="caveat-line"/>
          <p:cNvSpPr/>
          <p:nvPr/>
        </p:nvSpPr>
        <p:spPr>
          <a:xfrm>
            <a:off x="685800" y="5346700"/>
            <a:ext cx="660400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4" name="caveat"/>
          <p:cNvSpPr txBox="1"/>
          <p:nvPr/>
        </p:nvSpPr>
        <p:spPr>
          <a:xfrm>
            <a:off x="685800" y="5511800"/>
            <a:ext cx="6604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102334"/>
                </a:solidFill>
                <a:latin typeface="Microsoft YaHei"/>
                <a:ea typeface="Microsoft YaHei"/>
              </a:rPr>
              <a:t>11 / 102 ≈ 10.8% 不是利用率。</a:t>
            </a:r>
            <a:endParaRPr lang="en-US" sz="1500" noProof="1"/>
          </a:p>
          <a:p>
            <a:pPr>
              <a:lnSpc>
                <a:spcPct val="13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它只提示异构适配、网络、计量、结算和商业责任仍需打通。</a:t>
            </a:r>
            <a:endParaRPr lang="en-US" sz="1500" noProof="1"/>
          </a:p>
        </p:txBody>
      </p:sp>
      <p:sp>
        <p:nvSpPr>
          <p:cNvPr id="15" name="right-divider"/>
          <p:cNvSpPr/>
          <p:nvPr/>
        </p:nvSpPr>
        <p:spPr>
          <a:xfrm>
            <a:off x="7747000" y="1625600"/>
            <a:ext cx="12700" cy="44450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6" name="metric-a"/>
          <p:cNvSpPr txBox="1"/>
          <p:nvPr/>
        </p:nvSpPr>
        <p:spPr>
          <a:xfrm>
            <a:off x="8255000" y="1765300"/>
            <a:ext cx="298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1129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纳入监测的算力设施</a:t>
            </a:r>
            <a:endParaRPr lang="en-US" sz="1600" noProof="1"/>
          </a:p>
        </p:txBody>
      </p:sp>
      <p:sp>
        <p:nvSpPr>
          <p:cNvPr id="17" name="metric-b"/>
          <p:cNvSpPr txBox="1"/>
          <p:nvPr/>
        </p:nvSpPr>
        <p:spPr>
          <a:xfrm>
            <a:off x="8255000" y="2870200"/>
            <a:ext cx="298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42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万卡智能计算集群</a:t>
            </a:r>
            <a:endParaRPr lang="en-US" sz="1600" noProof="1"/>
          </a:p>
        </p:txBody>
      </p:sp>
      <p:sp>
        <p:nvSpPr>
          <p:cNvPr id="18" name="metric-c"/>
          <p:cNvSpPr txBox="1"/>
          <p:nvPr/>
        </p:nvSpPr>
        <p:spPr>
          <a:xfrm>
            <a:off x="8255000" y="3975100"/>
            <a:ext cx="298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1.34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超大型设施平均PUE</a:t>
            </a:r>
            <a:endParaRPr lang="en-US" sz="1600" noProof="1"/>
          </a:p>
        </p:txBody>
      </p:sp>
      <p:sp>
        <p:nvSpPr>
          <p:cNvPr id="19" name="metric-d"/>
          <p:cNvSpPr txBox="1"/>
          <p:nvPr/>
        </p:nvSpPr>
        <p:spPr>
          <a:xfrm>
            <a:off x="8255000" y="5080000"/>
            <a:ext cx="298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MiSans"/>
                <a:ea typeface="MiSans"/>
              </a:rPr>
              <a:t>1373万+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全国在用标准机架</a:t>
            </a:r>
            <a:endParaRPr lang="en-US" sz="1600" noProof="1"/>
          </a:p>
        </p:txBody>
      </p:sp>
      <p:sp>
        <p:nvSpPr>
          <p:cNvPr id="20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国家数据局《数字中国发展报告（2025年）》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。监测、智算和可调度口径不可视作漏斗转化。</a:t>
            </a:r>
            <a:endParaRPr lang="en-US" sz="900" noProof="1"/>
          </a:p>
        </p:txBody>
      </p:sp>
      <p:sp>
        <p:nvSpPr>
          <p:cNvPr id="21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09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VALUE POOLS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价值密度、经常性现金流与技术风险并不重合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y-axis"/>
          <p:cNvSpPr/>
          <p:nvPr>
            <p:extLst>
              <p:ext uri="{F5677B7D-0D2A-4D9B-9A5C-6D8D7D0E5A5D}">
                <pptd:line encoding="base64url">eyJ2aWV3Qm94IjpbMSwzMDRdLCJwb2ludHMiOiIwLDMwNCAwLDAifQ</pptd:line>
              </p:ext>
            </p:extLst>
          </p:nvPr>
        </p:nvSpPr>
        <p:spPr>
          <a:xfrm>
            <a:off x="1092200" y="1803400"/>
            <a:ext cx="12700" cy="3860800"/>
          </a:xfrm>
          <a:custGeom>
            <a:avLst/>
            <a:gdLst/>
            <a:ahLst/>
            <a:cxnLst/>
            <a:rect l="l" t="t" r="r" b="b"/>
            <a:pathLst>
              <a:path w="1" h="304">
                <a:moveTo>
                  <a:pt x="0" y="304"/>
                </a:move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5A6B7A"/>
            </a:solidFill>
            <a:round/>
            <a:tailEnd type="stealth"/>
          </a:ln>
        </p:spPr>
      </p:sp>
      <p:sp>
        <p:nvSpPr>
          <p:cNvPr id="7" name="x-axis"/>
          <p:cNvSpPr/>
          <p:nvPr>
            <p:extLst>
              <p:ext uri="{F5677B7D-0D2A-4D9B-9A5C-6D8D7D0E5A5D}">
                <pptd:line encoding="base64url">eyJ2aWV3Qm94IjpbNjEyLDFdLCJwb2ludHMiOiIwLDAgNjEyLDAifQ</pptd:line>
              </p:ext>
            </p:extLst>
          </p:nvPr>
        </p:nvSpPr>
        <p:spPr>
          <a:xfrm>
            <a:off x="1092200" y="5664200"/>
            <a:ext cx="7772400" cy="12700"/>
          </a:xfrm>
          <a:custGeom>
            <a:avLst/>
            <a:gdLst/>
            <a:ahLst/>
            <a:cxnLst/>
            <a:rect l="l" t="t" r="r" b="b"/>
            <a:pathLst>
              <a:path w="612" h="1">
                <a:moveTo>
                  <a:pt x="0" y="0"/>
                </a:moveTo>
                <a:lnTo>
                  <a:pt x="612" y="0"/>
                </a:lnTo>
              </a:path>
            </a:pathLst>
          </a:custGeom>
          <a:noFill/>
          <a:ln w="20320" cap="rnd">
            <a:solidFill>
              <a:srgbClr val="5A6B7A"/>
            </a:solidFill>
            <a:round/>
            <a:tailEnd type="stealth"/>
          </a:ln>
        </p:spPr>
      </p:sp>
      <p:sp>
        <p:nvSpPr>
          <p:cNvPr id="8" name="grid-h1"/>
          <p:cNvSpPr/>
          <p:nvPr>
            <p:extLst>
              <p:ext uri="{F5677B7D-0D2A-4D9B-9A5C-6D8D7D0E5A5D}">
                <pptd:line encoding="base64url">eyJ2aWV3Qm94IjpbNjEyLDFdLCJwb2ludHMiOiIwLDAgNjEyLDAifQ</pptd:line>
              </p:ext>
            </p:extLst>
          </p:nvPr>
        </p:nvSpPr>
        <p:spPr>
          <a:xfrm>
            <a:off x="1092200" y="4381500"/>
            <a:ext cx="7772400" cy="12700"/>
          </a:xfrm>
          <a:custGeom>
            <a:avLst/>
            <a:gdLst/>
            <a:ahLst/>
            <a:cxnLst/>
            <a:rect l="l" t="t" r="r" b="b"/>
            <a:pathLst>
              <a:path w="612" h="1">
                <a:moveTo>
                  <a:pt x="0" y="0"/>
                </a:moveTo>
                <a:lnTo>
                  <a:pt x="612" y="0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9" name="grid-h2"/>
          <p:cNvSpPr/>
          <p:nvPr>
            <p:extLst>
              <p:ext uri="{F5677B7D-0D2A-4D9B-9A5C-6D8D7D0E5A5D}">
                <pptd:line encoding="base64url">eyJ2aWV3Qm94IjpbNjEyLDFdLCJwb2ludHMiOiIwLDAgNjEyLDAifQ</pptd:line>
              </p:ext>
            </p:extLst>
          </p:nvPr>
        </p:nvSpPr>
        <p:spPr>
          <a:xfrm>
            <a:off x="1092200" y="3098800"/>
            <a:ext cx="7772400" cy="12700"/>
          </a:xfrm>
          <a:custGeom>
            <a:avLst/>
            <a:gdLst/>
            <a:ahLst/>
            <a:cxnLst/>
            <a:rect l="l" t="t" r="r" b="b"/>
            <a:pathLst>
              <a:path w="612" h="1">
                <a:moveTo>
                  <a:pt x="0" y="0"/>
                </a:moveTo>
                <a:lnTo>
                  <a:pt x="612" y="0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10" name="grid-v1"/>
          <p:cNvSpPr/>
          <p:nvPr>
            <p:extLst>
              <p:ext uri="{F5677B7D-0D2A-4D9B-9A5C-6D8D7D0E5A5D}">
                <pptd:line encoding="base64url">eyJ2aWV3Qm94IjpbMSwzMDRdLCJwb2ludHMiOiIwLDAgMCwzMDQifQ</pptd:line>
              </p:ext>
            </p:extLst>
          </p:nvPr>
        </p:nvSpPr>
        <p:spPr>
          <a:xfrm>
            <a:off x="3683000" y="1803400"/>
            <a:ext cx="12700" cy="3860800"/>
          </a:xfrm>
          <a:custGeom>
            <a:avLst/>
            <a:gdLst/>
            <a:ahLst/>
            <a:cxnLst/>
            <a:rect l="l" t="t" r="r" b="b"/>
            <a:pathLst>
              <a:path w="1" h="304">
                <a:moveTo>
                  <a:pt x="0" y="0"/>
                </a:moveTo>
                <a:lnTo>
                  <a:pt x="0" y="304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11" name="grid-v2"/>
          <p:cNvSpPr/>
          <p:nvPr>
            <p:extLst>
              <p:ext uri="{F5677B7D-0D2A-4D9B-9A5C-6D8D7D0E5A5D}">
                <pptd:line encoding="base64url">eyJ2aWV3Qm94IjpbMSwzMDRdLCJwb2ludHMiOiIwLDAgMCwzMDQifQ</pptd:line>
              </p:ext>
            </p:extLst>
          </p:nvPr>
        </p:nvSpPr>
        <p:spPr>
          <a:xfrm>
            <a:off x="6273800" y="1803400"/>
            <a:ext cx="12700" cy="3860800"/>
          </a:xfrm>
          <a:custGeom>
            <a:avLst/>
            <a:gdLst/>
            <a:ahLst/>
            <a:cxnLst/>
            <a:rect l="l" t="t" r="r" b="b"/>
            <a:pathLst>
              <a:path w="1" h="304">
                <a:moveTo>
                  <a:pt x="0" y="0"/>
                </a:moveTo>
                <a:lnTo>
                  <a:pt x="0" y="304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12" name="chip-dot"/>
          <p:cNvSpPr/>
          <p:nvPr/>
        </p:nvSpPr>
        <p:spPr>
          <a:xfrm>
            <a:off x="7378700" y="3962400"/>
            <a:ext cx="838200" cy="83820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13" name="cloud-dot"/>
          <p:cNvSpPr/>
          <p:nvPr/>
        </p:nvSpPr>
        <p:spPr>
          <a:xfrm>
            <a:off x="7239000" y="2146300"/>
            <a:ext cx="939800" cy="9398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4" name="app-dot"/>
          <p:cNvSpPr/>
          <p:nvPr/>
        </p:nvSpPr>
        <p:spPr>
          <a:xfrm>
            <a:off x="5969000" y="1676400"/>
            <a:ext cx="889000" cy="8890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5" name="idc-dot"/>
          <p:cNvSpPr/>
          <p:nvPr/>
        </p:nvSpPr>
        <p:spPr>
          <a:xfrm>
            <a:off x="5422900" y="2971800"/>
            <a:ext cx="812800" cy="812800"/>
          </a:xfrm>
          <a:prstGeom prst="ellipse">
            <a:avLst/>
          </a:prstGeom>
          <a:solidFill>
            <a:srgbClr val="6BA0C4"/>
          </a:solidFill>
          <a:ln>
            <a:noFill/>
          </a:ln>
        </p:spPr>
      </p:sp>
      <p:sp>
        <p:nvSpPr>
          <p:cNvPr id="16" name="power-dot"/>
          <p:cNvSpPr/>
          <p:nvPr/>
        </p:nvSpPr>
        <p:spPr>
          <a:xfrm>
            <a:off x="4152900" y="3378200"/>
            <a:ext cx="762000" cy="762000"/>
          </a:xfrm>
          <a:prstGeom prst="ellipse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7" name="optical-dot"/>
          <p:cNvSpPr/>
          <p:nvPr/>
        </p:nvSpPr>
        <p:spPr>
          <a:xfrm>
            <a:off x="4889500" y="4343400"/>
            <a:ext cx="711200" cy="711200"/>
          </a:xfrm>
          <a:prstGeom prst="ellipse">
            <a:avLst/>
          </a:prstGeom>
          <a:solidFill>
            <a:srgbClr val="7FAECE"/>
          </a:solidFill>
          <a:ln>
            <a:noFill/>
          </a:ln>
        </p:spPr>
      </p:sp>
      <p:sp>
        <p:nvSpPr>
          <p:cNvPr id="18" name="server-dot"/>
          <p:cNvSpPr/>
          <p:nvPr/>
        </p:nvSpPr>
        <p:spPr>
          <a:xfrm>
            <a:off x="2451100" y="4762500"/>
            <a:ext cx="685800" cy="685800"/>
          </a:xfrm>
          <a:prstGeom prst="ellipse">
            <a:avLst/>
          </a:prstGeom>
          <a:solidFill>
            <a:srgbClr val="EEF3F6"/>
          </a:solidFill>
          <a:ln w="19050">
            <a:solidFill>
              <a:srgbClr val="4E8FBD"/>
            </a:solidFill>
          </a:ln>
        </p:spPr>
      </p:sp>
      <p:sp>
        <p:nvSpPr>
          <p:cNvPr id="19" name="chip-label"/>
          <p:cNvSpPr txBox="1"/>
          <p:nvPr/>
        </p:nvSpPr>
        <p:spPr>
          <a:xfrm>
            <a:off x="7061200" y="48260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芯片 / HBM / 生态</a:t>
            </a:r>
            <a:endParaRPr lang="en-US" sz="1300" noProof="1"/>
          </a:p>
        </p:txBody>
      </p:sp>
      <p:sp>
        <p:nvSpPr>
          <p:cNvPr id="20" name="cloud-label"/>
          <p:cNvSpPr txBox="1"/>
          <p:nvPr/>
        </p:nvSpPr>
        <p:spPr>
          <a:xfrm>
            <a:off x="7010400" y="30607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云 / 调度</a:t>
            </a:r>
            <a:endParaRPr lang="en-US" sz="1300" noProof="1"/>
          </a:p>
        </p:txBody>
      </p:sp>
      <p:sp>
        <p:nvSpPr>
          <p:cNvPr id="21" name="app-label"/>
          <p:cNvSpPr txBox="1"/>
          <p:nvPr/>
        </p:nvSpPr>
        <p:spPr>
          <a:xfrm>
            <a:off x="5626100" y="25654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行业应用</a:t>
            </a:r>
            <a:endParaRPr lang="en-US" sz="1300" noProof="1"/>
          </a:p>
        </p:txBody>
      </p:sp>
      <p:sp>
        <p:nvSpPr>
          <p:cNvPr id="22" name="idc-label"/>
          <p:cNvSpPr txBox="1"/>
          <p:nvPr/>
        </p:nvSpPr>
        <p:spPr>
          <a:xfrm>
            <a:off x="5168900" y="3759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IDC / AIDC</a:t>
            </a:r>
            <a:endParaRPr lang="en-US" sz="1300" noProof="1"/>
          </a:p>
        </p:txBody>
      </p:sp>
      <p:sp>
        <p:nvSpPr>
          <p:cNvPr id="23" name="power-label"/>
          <p:cNvSpPr txBox="1"/>
          <p:nvPr/>
        </p:nvSpPr>
        <p:spPr>
          <a:xfrm>
            <a:off x="3733800" y="4114800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电力 / 液冷</a:t>
            </a:r>
            <a:endParaRPr lang="en-US" sz="1300" noProof="1"/>
          </a:p>
        </p:txBody>
      </p:sp>
      <p:sp>
        <p:nvSpPr>
          <p:cNvPr id="24" name="optical-label"/>
          <p:cNvSpPr txBox="1"/>
          <p:nvPr/>
        </p:nvSpPr>
        <p:spPr>
          <a:xfrm>
            <a:off x="4508500" y="50800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光互连 / PCB</a:t>
            </a:r>
            <a:endParaRPr lang="en-US" sz="1300" noProof="1"/>
          </a:p>
        </p:txBody>
      </p:sp>
      <p:sp>
        <p:nvSpPr>
          <p:cNvPr id="25" name="server-label"/>
          <p:cNvSpPr txBox="1"/>
          <p:nvPr/>
        </p:nvSpPr>
        <p:spPr>
          <a:xfrm>
            <a:off x="2032000" y="54864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服务器 / 集成</a:t>
            </a:r>
            <a:endParaRPr lang="en-US" sz="1300" noProof="1"/>
          </a:p>
        </p:txBody>
      </p:sp>
      <p:sp>
        <p:nvSpPr>
          <p:cNvPr id="26" name="y-label"/>
          <p:cNvSpPr txBox="1"/>
          <p:nvPr/>
        </p:nvSpPr>
        <p:spPr>
          <a:xfrm rot="16200000">
            <a:off x="279400" y="3048000"/>
            <a:ext cx="4064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5A6B7A"/>
                </a:solidFill>
                <a:latin typeface="Microsoft YaHei"/>
                <a:ea typeface="Microsoft YaHei"/>
              </a:rPr>
              <a:t>经常性现金流潜力</a:t>
            </a:r>
            <a:endParaRPr lang="en-US" sz="1300" noProof="1"/>
          </a:p>
        </p:txBody>
      </p:sp>
      <p:sp>
        <p:nvSpPr>
          <p:cNvPr id="27" name="x-label"/>
          <p:cNvSpPr txBox="1"/>
          <p:nvPr/>
        </p:nvSpPr>
        <p:spPr>
          <a:xfrm>
            <a:off x="34290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5A6B7A"/>
                </a:solidFill>
                <a:latin typeface="Microsoft YaHei"/>
                <a:ea typeface="Microsoft YaHei"/>
              </a:rPr>
              <a:t>技术 / 客户 / 生态壁垒 →</a:t>
            </a:r>
            <a:endParaRPr lang="en-US" sz="1300" noProof="1"/>
          </a:p>
        </p:txBody>
      </p:sp>
      <p:sp>
        <p:nvSpPr>
          <p:cNvPr id="28" name="right-divider"/>
          <p:cNvSpPr/>
          <p:nvPr/>
        </p:nvSpPr>
        <p:spPr>
          <a:xfrm>
            <a:off x="9271000" y="1676400"/>
            <a:ext cx="12700" cy="43688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29" name="insight-1"/>
          <p:cNvSpPr txBox="1"/>
          <p:nvPr/>
        </p:nvSpPr>
        <p:spPr>
          <a:xfrm>
            <a:off x="9626600" y="1854200"/>
            <a:ext cx="1879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稀缺租金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器件与生态壁垒最高，同时承担最大技术与供给风险。</a:t>
            </a:r>
            <a:endParaRPr lang="en-US" sz="1600" noProof="1"/>
          </a:p>
        </p:txBody>
      </p:sp>
      <p:sp>
        <p:nvSpPr>
          <p:cNvPr id="30" name="insight-2"/>
          <p:cNvSpPr txBox="1"/>
          <p:nvPr/>
        </p:nvSpPr>
        <p:spPr>
          <a:xfrm>
            <a:off x="9626600" y="3289300"/>
            <a:ext cx="1879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合同质量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IDC和云的现金流取决于利用率、客户与资本成本。</a:t>
            </a:r>
            <a:endParaRPr lang="en-US" sz="1600" noProof="1"/>
          </a:p>
        </p:txBody>
      </p:sp>
      <p:sp>
        <p:nvSpPr>
          <p:cNvPr id="31" name="insight-3"/>
          <p:cNvSpPr txBox="1"/>
          <p:nvPr/>
        </p:nvSpPr>
        <p:spPr>
          <a:xfrm>
            <a:off x="9626600" y="4724400"/>
            <a:ext cx="1879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长期上限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应用最接近付费工作流，但商业胜负尚未确定。</a:t>
            </a:r>
            <a:endParaRPr lang="en-US" sz="1600" noProof="1"/>
          </a:p>
        </p:txBody>
      </p:sp>
      <p:sp>
        <p:nvSpPr>
          <p:cNvPr id="32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注：位置与圆点大小均为定性研究判断，不是量化评分、市场份额或投资建议。</a:t>
            </a:r>
            <a:endParaRPr lang="en-US" sz="900" noProof="1"/>
          </a:p>
        </p:txBody>
      </p:sp>
      <p:sp>
        <p:nvSpPr>
          <p:cNvPr id="33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10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PROCUREMENT LANDSCAPE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四种采购模式并行，需求已从设备延伸到结果服务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flow-1"/>
          <p:cNvSpPr/>
          <p:nvPr>
            <p:extLst>
              <p:ext uri="{F5677B7D-0D2A-4D9B-9A5C-6D8D7D0E5A5D}">
                <pptd:line encoding="base64url">eyJ2aWV3Qm94IjpbNDIsMV0sInBvaW50cyI6IjAsMCA0MiwwIn0</pptd:line>
              </p:ext>
            </p:extLst>
          </p:nvPr>
        </p:nvSpPr>
        <p:spPr>
          <a:xfrm>
            <a:off x="3225800" y="32385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7" name="flow-2"/>
          <p:cNvSpPr/>
          <p:nvPr>
            <p:extLst>
              <p:ext uri="{F5677B7D-0D2A-4D9B-9A5C-6D8D7D0E5A5D}">
                <pptd:line encoding="base64url">eyJ2aWV3Qm94IjpbNDIsMV0sInBvaW50cyI6IjAsMCA0MiwwIn0</pptd:line>
              </p:ext>
            </p:extLst>
          </p:nvPr>
        </p:nvSpPr>
        <p:spPr>
          <a:xfrm>
            <a:off x="5867400" y="32385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8" name="flow-3"/>
          <p:cNvSpPr/>
          <p:nvPr>
            <p:extLst>
              <p:ext uri="{F5677B7D-0D2A-4D9B-9A5C-6D8D7D0E5A5D}">
                <pptd:line encoding="base64url">eyJ2aWV3Qm94IjpbNDIsMV0sInBvaW50cyI6IjAsMCA0MiwwIn0</pptd:line>
              </p:ext>
            </p:extLst>
          </p:nvPr>
        </p:nvSpPr>
        <p:spPr>
          <a:xfrm>
            <a:off x="8509000" y="32385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9" name="model-1"/>
          <p:cNvSpPr/>
          <p:nvPr/>
        </p:nvSpPr>
        <p:spPr>
          <a:xfrm>
            <a:off x="685800" y="2120900"/>
            <a:ext cx="2540000" cy="220980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1E8"/>
            </a:solidFill>
          </a:ln>
        </p:spPr>
      </p:sp>
      <p:sp>
        <p:nvSpPr>
          <p:cNvPr id="10" name="model-2"/>
          <p:cNvSpPr/>
          <p:nvPr/>
        </p:nvSpPr>
        <p:spPr>
          <a:xfrm>
            <a:off x="3759200" y="2120900"/>
            <a:ext cx="2108200" cy="2209800"/>
          </a:xfrm>
          <a:prstGeom prst="rect">
            <a:avLst/>
          </a:prstGeom>
          <a:solidFill>
            <a:srgbClr val="EAF2F8"/>
          </a:solidFill>
          <a:ln w="12700">
            <a:solidFill>
              <a:srgbClr val="D9E1E8"/>
            </a:solidFill>
          </a:ln>
        </p:spPr>
      </p:sp>
      <p:sp>
        <p:nvSpPr>
          <p:cNvPr id="11" name="model-3"/>
          <p:cNvSpPr/>
          <p:nvPr/>
        </p:nvSpPr>
        <p:spPr>
          <a:xfrm>
            <a:off x="6400800" y="2120900"/>
            <a:ext cx="2108200" cy="220980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1E8"/>
            </a:solidFill>
          </a:ln>
        </p:spPr>
      </p:sp>
      <p:sp>
        <p:nvSpPr>
          <p:cNvPr id="12" name="model-4"/>
          <p:cNvSpPr/>
          <p:nvPr/>
        </p:nvSpPr>
        <p:spPr>
          <a:xfrm>
            <a:off x="9042400" y="2120900"/>
            <a:ext cx="2463800" cy="2209800"/>
          </a:xfrm>
          <a:prstGeom prst="rect">
            <a:avLst/>
          </a:prstGeom>
          <a:solidFill>
            <a:srgbClr val="EAF2F8"/>
          </a:solidFill>
          <a:ln w="12700">
            <a:solidFill>
              <a:srgbClr val="D9E1E8"/>
            </a:solidFill>
          </a:ln>
        </p:spPr>
      </p:sp>
      <p:sp>
        <p:nvSpPr>
          <p:cNvPr id="13" name="model-1t"/>
          <p:cNvSpPr txBox="1"/>
          <p:nvPr/>
        </p:nvSpPr>
        <p:spPr>
          <a:xfrm>
            <a:off x="914400" y="2336800"/>
            <a:ext cx="20828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01｜购买资产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100" noProof="1" b="1">
                <a:solidFill>
                  <a:srgbClr val="000000"/>
                </a:solidFill>
                <a:latin typeface="MiSans"/>
                <a:ea typeface="MiSans"/>
              </a:rPr>
              <a:t>服务器 / 存储 / 网络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科研、高校、安全敏感客户仍常见</a:t>
            </a:r>
            <a:endParaRPr lang="en-US" sz="1600" noProof="1"/>
          </a:p>
        </p:txBody>
      </p:sp>
      <p:sp>
        <p:nvSpPr>
          <p:cNvPr id="14" name="model-2t"/>
          <p:cNvSpPr txBox="1"/>
          <p:nvPr/>
        </p:nvSpPr>
        <p:spPr>
          <a:xfrm>
            <a:off x="3987800" y="2336800"/>
            <a:ext cx="1651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02｜购买系统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100" noProof="1" b="1">
                <a:solidFill>
                  <a:srgbClr val="000000"/>
                </a:solidFill>
                <a:latin typeface="MiSans"/>
                <a:ea typeface="MiSans"/>
              </a:rPr>
              <a:t>异构集群 + 平台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网络、存储、机柜与运维进入一包</a:t>
            </a:r>
            <a:endParaRPr lang="en-US" sz="1600" noProof="1"/>
          </a:p>
        </p:txBody>
      </p:sp>
      <p:sp>
        <p:nvSpPr>
          <p:cNvPr id="15" name="model-3t"/>
          <p:cNvSpPr txBox="1"/>
          <p:nvPr/>
        </p:nvSpPr>
        <p:spPr>
          <a:xfrm>
            <a:off x="6629400" y="2336800"/>
            <a:ext cx="1651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03｜购买基建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100" noProof="1" b="1">
                <a:solidFill>
                  <a:srgbClr val="000000"/>
                </a:solidFill>
                <a:latin typeface="MiSans"/>
                <a:ea typeface="MiSans"/>
              </a:rPr>
              <a:t>EPC / 变电 / 液冷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GPU需求外溢到电气与热管理</a:t>
            </a:r>
            <a:endParaRPr lang="en-US" sz="1600" noProof="1"/>
          </a:p>
        </p:txBody>
      </p:sp>
      <p:sp>
        <p:nvSpPr>
          <p:cNvPr id="16" name="model-4t"/>
          <p:cNvSpPr txBox="1"/>
          <p:nvPr/>
        </p:nvSpPr>
        <p:spPr>
          <a:xfrm>
            <a:off x="9271000" y="2336800"/>
            <a:ext cx="20066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04｜购买能力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100" noProof="1" b="1">
                <a:solidFill>
                  <a:srgbClr val="000000"/>
                </a:solidFill>
                <a:latin typeface="MiSans"/>
                <a:ea typeface="MiSans"/>
              </a:rPr>
              <a:t>服务器年 / 卡时 / Token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资本责任与使用弹性逐步分离</a:t>
            </a:r>
            <a:endParaRPr lang="en-US" sz="1600" noProof="1"/>
          </a:p>
        </p:txBody>
      </p:sp>
      <p:sp>
        <p:nvSpPr>
          <p:cNvPr id="17" name="sample-metric"/>
          <p:cNvSpPr txBox="1"/>
          <p:nvPr/>
        </p:nvSpPr>
        <p:spPr>
          <a:xfrm>
            <a:off x="685800" y="4699000"/>
            <a:ext cx="3810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4200" noProof="1" b="1">
                <a:solidFill>
                  <a:srgbClr val="000000"/>
                </a:solidFill>
                <a:latin typeface="MiSans"/>
                <a:ea typeface="MiSans"/>
              </a:rPr>
              <a:t>22 + 3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一手可核验样本 + 动态门户线索</a:t>
            </a:r>
            <a:endParaRPr lang="en-US" sz="1600" noProof="1"/>
          </a:p>
        </p:txBody>
      </p:sp>
      <p:sp>
        <p:nvSpPr>
          <p:cNvPr id="18" name="channel-rule"/>
          <p:cNvSpPr/>
          <p:nvPr/>
        </p:nvSpPr>
        <p:spPr>
          <a:xfrm>
            <a:off x="4978400" y="4699000"/>
            <a:ext cx="12700" cy="13208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9" name="channel-head"/>
          <p:cNvSpPr txBox="1"/>
          <p:nvPr/>
        </p:nvSpPr>
        <p:spPr>
          <a:xfrm>
            <a:off x="5461000" y="46990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覆盖的原始渠道</a:t>
            </a:r>
            <a:endParaRPr lang="en-US" sz="1300" noProof="1"/>
          </a:p>
        </p:txBody>
      </p:sp>
      <p:sp>
        <p:nvSpPr>
          <p:cNvPr id="20" name="channels"/>
          <p:cNvSpPr txBox="1"/>
          <p:nvPr/>
        </p:nvSpPr>
        <p:spPr>
          <a:xfrm>
            <a:off x="5461000" y="5143500"/>
            <a:ext cx="604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中国政府采购网　｜　全国及地方公共资源交易</a:t>
            </a:r>
            <a:endParaRPr lang="en-US" sz="1500" noProof="1"/>
          </a:p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102334"/>
                </a:solidFill>
                <a:latin typeface="Microsoft YaHei"/>
                <a:ea typeface="Microsoft YaHei"/>
              </a:rPr>
              <a:t>三大运营商采购平台　｜　南方电网、中国邮政、东风、中国铁塔</a:t>
            </a:r>
            <a:endParaRPr lang="en-US" sz="1500" noProof="1"/>
          </a:p>
        </p:txBody>
      </p:sp>
      <p:sp>
        <p:nvSpPr>
          <p:cNvPr id="21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来源：本报告对2025-01-01至2026-08-09公开公告的目的抽样；项目生命周期按编号和标包去重。</a:t>
            </a:r>
            <a:endParaRPr lang="en-US" sz="900" noProof="1"/>
          </a:p>
        </p:txBody>
      </p:sp>
      <p:sp>
        <p:nvSpPr>
          <p:cNvPr id="22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11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TENDER EVIDENCE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9652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代表项目覆盖GPU、全栈、租赁、变电站与EPC</a:t>
            </a:r>
            <a:endParaRPr lang="en-US" sz="3600" noProof="1"/>
          </a:p>
        </p:txBody>
      </p:sp>
      <p:sp>
        <p:nvSpPr>
          <p:cNvPr id="5" name="warning"/>
          <p:cNvSpPr txBox="1"/>
          <p:nvPr/>
        </p:nvSpPr>
        <p:spPr>
          <a:xfrm>
            <a:off x="10388600" y="622300"/>
            <a:ext cx="1117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1769AA"/>
                </a:solidFill>
                <a:latin typeface="Microsoft YaHei"/>
                <a:ea typeface="Microsoft YaHei"/>
              </a:rPr>
              <a:t>金额不可相加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graphicFrame>
        <p:nvGraphicFramePr>
          <p:cNvPr id="7" name="tender-table"/>
          <p:cNvGraphicFramePr>
            <a:graphicFrameLocks noGrp="1"/>
          </p:cNvGraphicFramePr>
          <p:nvPr/>
        </p:nvGraphicFramePr>
        <p:xfrm>
          <a:off x="685800" y="1612900"/>
          <a:ext cx="10820400" cy="4140200"/>
        </p:xfrm>
        <a:graphic>
          <a:graphicData uri="http://schemas.openxmlformats.org/drawingml/2006/table">
            <a:tbl>
              <a:tblPr/>
              <a:tblGrid>
                <a:gridCol w="3678936"/>
                <a:gridCol w="1839468"/>
                <a:gridCol w="2921508"/>
                <a:gridCol w="2380488"/>
              </a:tblGrid>
              <a:tr h="4968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采购形态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公开金额及口径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0B1F33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中国科技云GPU服务器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硬件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中标798万元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2025-05 中标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全总AI行业模型算力租用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整包服务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中标686万元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2025-10 中标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教育部GPU算力服务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年租服务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中标522.9万元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2026-06 中标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协和医院智算一体化平台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全栈平台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中标1569.7万元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2026-06 中标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中国邮政AI服务器 / 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硬件+网络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含税最高限价1440 / 5185万元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2025-04 招标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南方电网AI中试基础设施一期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框架全栈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框架10643.54万元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2025-10 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移动苏州汾湖智算中心一期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EPC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合同估算17090.33万元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2025-03 招标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542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 b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联通吴江智算中心机房楼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EPC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合同估算27769.29万元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noProof="1">
                          <a:solidFill>
                            <a:srgbClr val="102334"/>
                          </a:solidFill>
                          <a:latin typeface="Microsoft YaHei"/>
                          <a:ea typeface="Microsoft YaHei"/>
                        </a:rPr>
                        <a:t>2026-07 招标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8890">
                      <a:solidFill>
                        <a:srgbClr val="D9E1E8"/>
                      </a:solidFill>
                    </a:lnT>
                    <a:lnB w="8890">
                      <a:solidFill>
                        <a:srgbClr val="D9E1E8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source"/>
          <p:cNvSpPr txBox="1"/>
          <p:nvPr/>
        </p:nvSpPr>
        <p:spPr>
          <a:xfrm>
            <a:off x="685800" y="5880100"/>
            <a:ext cx="104394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中国政府采购网（中国科技云）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3"/>
              </a:rPr>
              <a:t>全总算力租用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4"/>
              </a:rPr>
              <a:t>协和医院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5"/>
              </a:rPr>
              <a:t>中国邮政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；</a:t>
            </a:r>
            <a:endParaRPr lang="en-US" sz="900" noProof="1"/>
          </a:p>
          <a:p>
            <a:pPr>
              <a:lnSpc>
                <a:spcPct val="115000"/>
              </a:lnSpc>
            </a:pP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6"/>
              </a:rPr>
              <a:t>南方电网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、</a:t>
            </a:r>
            <a:r>
              <a:rPr lang="en-US" sz="900" noProof="1" u="sng">
                <a:solidFill>
                  <a:srgbClr val="0563C1"/>
                </a:solidFill>
                <a:latin typeface="Microsoft YaHei"/>
                <a:ea typeface="Microsoft YaHei"/>
                <a:hlinkClick r:id="rId7"/>
              </a:rPr>
              <a:t>江苏公共资源（苏州）</a:t>
            </a: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。预算、限价、框架、中标和合同估算严格分列。</a:t>
            </a:r>
            <a:endParaRPr lang="en-US" sz="900" noProof="1"/>
          </a:p>
        </p:txBody>
      </p:sp>
      <p:sp>
        <p:nvSpPr>
          <p:cNvPr id="9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12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WHAT TENDERS REVEAL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采购对象正在升级为算力全栈和持续运营能力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divider"/>
          <p:cNvSpPr/>
          <p:nvPr/>
        </p:nvSpPr>
        <p:spPr>
          <a:xfrm>
            <a:off x="6197600" y="1651000"/>
            <a:ext cx="12700" cy="43434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7" name="row1-line"/>
          <p:cNvSpPr/>
          <p:nvPr/>
        </p:nvSpPr>
        <p:spPr>
          <a:xfrm>
            <a:off x="685800" y="30734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8" name="row2-line"/>
          <p:cNvSpPr/>
          <p:nvPr/>
        </p:nvSpPr>
        <p:spPr>
          <a:xfrm>
            <a:off x="685800" y="45466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9" name="n1"/>
          <p:cNvSpPr txBox="1"/>
          <p:nvPr/>
        </p:nvSpPr>
        <p:spPr>
          <a:xfrm>
            <a:off x="685800" y="17399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69AA"/>
                </a:solidFill>
                <a:latin typeface="Microsoft YaHei"/>
                <a:ea typeface="Microsoft YaHei"/>
              </a:rPr>
              <a:t>01</a:t>
            </a:r>
            <a:endParaRPr lang="en-US" sz="2800" noProof="1"/>
          </a:p>
        </p:txBody>
      </p:sp>
      <p:sp>
        <p:nvSpPr>
          <p:cNvPr id="10" name="s1"/>
          <p:cNvSpPr txBox="1"/>
          <p:nvPr/>
        </p:nvSpPr>
        <p:spPr>
          <a:xfrm>
            <a:off x="1371600" y="1739900"/>
            <a:ext cx="4318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单台设备 → 全栈交付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协和医院、南方电网将服务器、网络、存储、机柜及运维纳入同一标包。</a:t>
            </a:r>
            <a:endParaRPr lang="en-US" sz="1600" noProof="1"/>
          </a:p>
        </p:txBody>
      </p:sp>
      <p:sp>
        <p:nvSpPr>
          <p:cNvPr id="11" name="i1"/>
          <p:cNvSpPr txBox="1"/>
          <p:nvPr/>
        </p:nvSpPr>
        <p:spPr>
          <a:xfrm>
            <a:off x="6667500" y="1739900"/>
            <a:ext cx="4445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研究含义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000000"/>
                </a:solidFill>
                <a:latin typeface="MiSans"/>
                <a:ea typeface="MiSans"/>
              </a:rPr>
              <a:t>系统集成、异构适配和持续运营比单一硬件转售更重要。</a:t>
            </a:r>
            <a:endParaRPr lang="en-US" sz="1600" noProof="1"/>
          </a:p>
        </p:txBody>
      </p:sp>
      <p:sp>
        <p:nvSpPr>
          <p:cNvPr id="12" name="n2"/>
          <p:cNvSpPr txBox="1"/>
          <p:nvPr/>
        </p:nvSpPr>
        <p:spPr>
          <a:xfrm>
            <a:off x="685800" y="32639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69AA"/>
                </a:solidFill>
                <a:latin typeface="Microsoft YaHei"/>
                <a:ea typeface="Microsoft YaHei"/>
              </a:rPr>
              <a:t>02</a:t>
            </a:r>
            <a:endParaRPr lang="en-US" sz="2800" noProof="1"/>
          </a:p>
        </p:txBody>
      </p:sp>
      <p:sp>
        <p:nvSpPr>
          <p:cNvPr id="13" name="s2"/>
          <p:cNvSpPr txBox="1"/>
          <p:nvPr/>
        </p:nvSpPr>
        <p:spPr>
          <a:xfrm>
            <a:off x="1371600" y="3263900"/>
            <a:ext cx="4318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GPU扩张 → 电气与热管理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苏州汾湖包含动力、变电和湖水冷却；芜湖单独采购126 MVA变电站。</a:t>
            </a:r>
            <a:endParaRPr lang="en-US" sz="1600" noProof="1"/>
          </a:p>
        </p:txBody>
      </p:sp>
      <p:sp>
        <p:nvSpPr>
          <p:cNvPr id="14" name="i2"/>
          <p:cNvSpPr txBox="1"/>
          <p:nvPr/>
        </p:nvSpPr>
        <p:spPr>
          <a:xfrm>
            <a:off x="6667500" y="3263900"/>
            <a:ext cx="4445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研究含义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000000"/>
                </a:solidFill>
                <a:latin typeface="MiSans"/>
                <a:ea typeface="MiSans"/>
              </a:rPr>
              <a:t>供配电、液冷和机电是高密智算的必要条件，不是附属支出。</a:t>
            </a:r>
            <a:endParaRPr lang="en-US" sz="1600" noProof="1"/>
          </a:p>
        </p:txBody>
      </p:sp>
      <p:sp>
        <p:nvSpPr>
          <p:cNvPr id="15" name="n3"/>
          <p:cNvSpPr txBox="1"/>
          <p:nvPr/>
        </p:nvSpPr>
        <p:spPr>
          <a:xfrm>
            <a:off x="685800" y="47371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769AA"/>
                </a:solidFill>
                <a:latin typeface="Microsoft YaHei"/>
                <a:ea typeface="Microsoft YaHei"/>
              </a:rPr>
              <a:t>03</a:t>
            </a:r>
            <a:endParaRPr lang="en-US" sz="2800" noProof="1"/>
          </a:p>
        </p:txBody>
      </p:sp>
      <p:sp>
        <p:nvSpPr>
          <p:cNvPr id="16" name="s3"/>
          <p:cNvSpPr txBox="1"/>
          <p:nvPr/>
        </p:nvSpPr>
        <p:spPr>
          <a:xfrm>
            <a:off x="1371600" y="4737100"/>
            <a:ext cx="4318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资产采购 → 年租 / 卡时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教育部、全总、东风日产分别采购裸金属年租、整包算力和AI/超算服务。</a:t>
            </a:r>
            <a:endParaRPr lang="en-US" sz="1600" noProof="1"/>
          </a:p>
        </p:txBody>
      </p:sp>
      <p:sp>
        <p:nvSpPr>
          <p:cNvPr id="17" name="i3"/>
          <p:cNvSpPr txBox="1"/>
          <p:nvPr/>
        </p:nvSpPr>
        <p:spPr>
          <a:xfrm>
            <a:off x="6667500" y="4737100"/>
            <a:ext cx="4445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研究含义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000000"/>
                </a:solidFill>
                <a:latin typeface="MiSans"/>
                <a:ea typeface="MiSans"/>
              </a:rPr>
              <a:t>收入可能更经常性，但必须比较卡型、SLA、期限、网络和税口径。</a:t>
            </a:r>
            <a:endParaRPr lang="en-US" sz="1600" noProof="1"/>
          </a:p>
        </p:txBody>
      </p:sp>
      <p:sp>
        <p:nvSpPr>
          <p:cNvPr id="18" name="lower-copy"/>
          <p:cNvSpPr txBox="1"/>
          <p:nvPr/>
        </p:nvSpPr>
        <p:spPr>
          <a:xfrm>
            <a:off x="685800" y="6019800"/>
            <a:ext cx="10820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0B1F33"/>
                </a:solidFill>
                <a:latin typeface="Microsoft YaHei"/>
                <a:ea typeface="Microsoft YaHei"/>
              </a:rPr>
              <a:t>补充信号：国产化进入参数｜算力超市成为软件标的｜连续批次比一次性大单更有信息量</a:t>
            </a:r>
            <a:endParaRPr lang="en-US" sz="1300" noProof="1"/>
          </a:p>
        </p:txBody>
      </p:sp>
      <p:sp>
        <p:nvSpPr>
          <p:cNvPr id="19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来源：本报告公开招投标样本归纳；框架入围、候选人和预计数量均不等于实际订单与收入。</a:t>
            </a:r>
            <a:endParaRPr lang="en-US" sz="900" noProof="1"/>
          </a:p>
        </p:txBody>
      </p:sp>
      <p:sp>
        <p:nvSpPr>
          <p:cNvPr id="20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13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RISKS &amp; CONTRARIAN VIEW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过建、折旧、供给限制与商业化不足可能同时发生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y-axis"/>
          <p:cNvSpPr/>
          <p:nvPr>
            <p:extLst>
              <p:ext uri="{F5677B7D-0D2A-4D9B-9A5C-6D8D7D0E5A5D}">
                <pptd:line encoding="base64url">eyJ2aWV3Qm94IjpbMSwzMDZdLCJwb2ludHMiOiIwLDMwNiAwLDAifQ</pptd:line>
              </p:ext>
            </p:extLst>
          </p:nvPr>
        </p:nvSpPr>
        <p:spPr>
          <a:xfrm>
            <a:off x="1066800" y="1803400"/>
            <a:ext cx="12700" cy="3886200"/>
          </a:xfrm>
          <a:custGeom>
            <a:avLst/>
            <a:gdLst/>
            <a:ahLst/>
            <a:cxnLst/>
            <a:rect l="l" t="t" r="r" b="b"/>
            <a:pathLst>
              <a:path w="1" h="306">
                <a:moveTo>
                  <a:pt x="0" y="306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5A6B7A"/>
            </a:solidFill>
            <a:round/>
            <a:tailEnd type="stealth"/>
          </a:ln>
        </p:spPr>
      </p:sp>
      <p:sp>
        <p:nvSpPr>
          <p:cNvPr id="7" name="x-axis"/>
          <p:cNvSpPr/>
          <p:nvPr>
            <p:extLst>
              <p:ext uri="{F5677B7D-0D2A-4D9B-9A5C-6D8D7D0E5A5D}">
                <pptd:line encoding="base64url">eyJ2aWV3Qm94IjpbNTU0LDFdLCJwb2ludHMiOiIwLDAgNTU0LDAifQ</pptd:line>
              </p:ext>
            </p:extLst>
          </p:nvPr>
        </p:nvSpPr>
        <p:spPr>
          <a:xfrm>
            <a:off x="1066800" y="5689600"/>
            <a:ext cx="7035800" cy="12700"/>
          </a:xfrm>
          <a:custGeom>
            <a:avLst/>
            <a:gdLst/>
            <a:ahLst/>
            <a:cxnLst/>
            <a:rect l="l" t="t" r="r" b="b"/>
            <a:pathLst>
              <a:path w="554" h="1">
                <a:moveTo>
                  <a:pt x="0" y="0"/>
                </a:moveTo>
                <a:lnTo>
                  <a:pt x="554" y="0"/>
                </a:lnTo>
              </a:path>
            </a:pathLst>
          </a:custGeom>
          <a:noFill/>
          <a:ln w="19050" cap="rnd">
            <a:solidFill>
              <a:srgbClr val="5A6B7A"/>
            </a:solidFill>
            <a:round/>
            <a:tailEnd type="stealth"/>
          </a:ln>
        </p:spPr>
      </p:sp>
      <p:sp>
        <p:nvSpPr>
          <p:cNvPr id="8" name="grid-h"/>
          <p:cNvSpPr/>
          <p:nvPr>
            <p:extLst>
              <p:ext uri="{F5677B7D-0D2A-4D9B-9A5C-6D8D7D0E5A5D}">
                <pptd:line encoding="base64url">eyJ2aWV3Qm94IjpbNTU0LDFdLCJwb2ludHMiOiIwLDAgNTU0LDAifQ</pptd:line>
              </p:ext>
            </p:extLst>
          </p:nvPr>
        </p:nvSpPr>
        <p:spPr>
          <a:xfrm>
            <a:off x="1066800" y="3746500"/>
            <a:ext cx="7035800" cy="12700"/>
          </a:xfrm>
          <a:custGeom>
            <a:avLst/>
            <a:gdLst/>
            <a:ahLst/>
            <a:cxnLst/>
            <a:rect l="l" t="t" r="r" b="b"/>
            <a:pathLst>
              <a:path w="554" h="1">
                <a:moveTo>
                  <a:pt x="0" y="0"/>
                </a:moveTo>
                <a:lnTo>
                  <a:pt x="554" y="0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9" name="grid-v"/>
          <p:cNvSpPr/>
          <p:nvPr>
            <p:extLst>
              <p:ext uri="{F5677B7D-0D2A-4D9B-9A5C-6D8D7D0E5A5D}">
                <pptd:line encoding="base64url">eyJ2aWV3Qm94IjpbMSwzMDZdLCJwb2ludHMiOiIwLDAgMCwzMDYifQ</pptd:line>
              </p:ext>
            </p:extLst>
          </p:nvPr>
        </p:nvSpPr>
        <p:spPr>
          <a:xfrm>
            <a:off x="4584700" y="1803400"/>
            <a:ext cx="12700" cy="3886200"/>
          </a:xfrm>
          <a:custGeom>
            <a:avLst/>
            <a:gdLst/>
            <a:ahLst/>
            <a:cxnLst/>
            <a:rect l="l" t="t" r="r" b="b"/>
            <a:pathLst>
              <a:path w="1" h="306">
                <a:moveTo>
                  <a:pt x="0" y="0"/>
                </a:moveTo>
                <a:lnTo>
                  <a:pt x="0" y="306"/>
                </a:lnTo>
              </a:path>
            </a:pathLst>
          </a:custGeom>
          <a:noFill/>
          <a:ln w="10160" cap="rnd">
            <a:solidFill>
              <a:srgbClr val="D9E1E8"/>
            </a:solidFill>
            <a:prstDash val="dot"/>
            <a:round/>
          </a:ln>
        </p:spPr>
      </p:sp>
      <p:sp>
        <p:nvSpPr>
          <p:cNvPr id="10" name="dot-overbuild"/>
          <p:cNvSpPr/>
          <p:nvPr/>
        </p:nvSpPr>
        <p:spPr>
          <a:xfrm>
            <a:off x="6159500" y="2095500"/>
            <a:ext cx="304800" cy="30480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11" name="dot-depr"/>
          <p:cNvSpPr/>
          <p:nvPr/>
        </p:nvSpPr>
        <p:spPr>
          <a:xfrm>
            <a:off x="6756400" y="2590800"/>
            <a:ext cx="304800" cy="3048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2" name="dot-commercial"/>
          <p:cNvSpPr/>
          <p:nvPr/>
        </p:nvSpPr>
        <p:spPr>
          <a:xfrm>
            <a:off x="5613400" y="2844800"/>
            <a:ext cx="304800" cy="304800"/>
          </a:xfrm>
          <a:prstGeom prst="ellipse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3" name="dot-supply"/>
          <p:cNvSpPr/>
          <p:nvPr/>
        </p:nvSpPr>
        <p:spPr>
          <a:xfrm>
            <a:off x="4635500" y="2324100"/>
            <a:ext cx="304800" cy="3048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4" name="dot-energy"/>
          <p:cNvSpPr/>
          <p:nvPr/>
        </p:nvSpPr>
        <p:spPr>
          <a:xfrm>
            <a:off x="4064000" y="3213100"/>
            <a:ext cx="304800" cy="304800"/>
          </a:xfrm>
          <a:prstGeom prst="ellipse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5" name="dot-cash"/>
          <p:cNvSpPr/>
          <p:nvPr/>
        </p:nvSpPr>
        <p:spPr>
          <a:xfrm>
            <a:off x="6096000" y="4076700"/>
            <a:ext cx="304800" cy="304800"/>
          </a:xfrm>
          <a:prstGeom prst="ellipse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6" name="dot-standard"/>
          <p:cNvSpPr/>
          <p:nvPr/>
        </p:nvSpPr>
        <p:spPr>
          <a:xfrm>
            <a:off x="3810000" y="4330700"/>
            <a:ext cx="304800" cy="304800"/>
          </a:xfrm>
          <a:prstGeom prst="ellipse">
            <a:avLst/>
          </a:prstGeom>
          <a:solidFill>
            <a:srgbClr val="9BC2DD"/>
          </a:solidFill>
          <a:ln>
            <a:noFill/>
          </a:ln>
        </p:spPr>
      </p:sp>
      <p:sp>
        <p:nvSpPr>
          <p:cNvPr id="17" name="dot-data"/>
          <p:cNvSpPr/>
          <p:nvPr/>
        </p:nvSpPr>
        <p:spPr>
          <a:xfrm>
            <a:off x="2984500" y="3581400"/>
            <a:ext cx="304800" cy="304800"/>
          </a:xfrm>
          <a:prstGeom prst="ellipse">
            <a:avLst/>
          </a:prstGeom>
          <a:solidFill>
            <a:srgbClr val="EEF3F6"/>
          </a:solidFill>
          <a:ln w="19050">
            <a:solidFill>
              <a:srgbClr val="4E8FBD"/>
            </a:solidFill>
          </a:ln>
        </p:spPr>
      </p:sp>
      <p:sp>
        <p:nvSpPr>
          <p:cNvPr id="18" name="label-overbuild"/>
          <p:cNvSpPr txBox="1"/>
          <p:nvPr/>
        </p:nvSpPr>
        <p:spPr>
          <a:xfrm>
            <a:off x="5740400" y="17780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结构性过建</a:t>
            </a:r>
            <a:endParaRPr lang="en-US" sz="1200" noProof="1"/>
          </a:p>
        </p:txBody>
      </p:sp>
      <p:sp>
        <p:nvSpPr>
          <p:cNvPr id="19" name="label-depr"/>
          <p:cNvSpPr txBox="1"/>
          <p:nvPr/>
        </p:nvSpPr>
        <p:spPr>
          <a:xfrm>
            <a:off x="6985000" y="26035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技术折旧</a:t>
            </a:r>
            <a:endParaRPr lang="en-US" sz="1200" noProof="1"/>
          </a:p>
        </p:txBody>
      </p:sp>
      <p:sp>
        <p:nvSpPr>
          <p:cNvPr id="20" name="label-commercial"/>
          <p:cNvSpPr txBox="1"/>
          <p:nvPr/>
        </p:nvSpPr>
        <p:spPr>
          <a:xfrm>
            <a:off x="5130800" y="31623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商业化不足</a:t>
            </a:r>
            <a:endParaRPr lang="en-US" sz="1200" noProof="1"/>
          </a:p>
        </p:txBody>
      </p:sp>
      <p:sp>
        <p:nvSpPr>
          <p:cNvPr id="21" name="label-supply"/>
          <p:cNvSpPr txBox="1"/>
          <p:nvPr/>
        </p:nvSpPr>
        <p:spPr>
          <a:xfrm>
            <a:off x="4178300" y="19939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芯片 / HBM供给</a:t>
            </a:r>
            <a:endParaRPr lang="en-US" sz="1200" noProof="1"/>
          </a:p>
        </p:txBody>
      </p:sp>
      <p:sp>
        <p:nvSpPr>
          <p:cNvPr id="22" name="label-energy"/>
          <p:cNvSpPr txBox="1"/>
          <p:nvPr/>
        </p:nvSpPr>
        <p:spPr>
          <a:xfrm>
            <a:off x="3505200" y="34925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能源与水</a:t>
            </a:r>
            <a:endParaRPr lang="en-US" sz="1200" noProof="1"/>
          </a:p>
        </p:txBody>
      </p:sp>
      <p:sp>
        <p:nvSpPr>
          <p:cNvPr id="23" name="label-cash"/>
          <p:cNvSpPr txBox="1"/>
          <p:nvPr/>
        </p:nvSpPr>
        <p:spPr>
          <a:xfrm>
            <a:off x="5638800" y="4419600"/>
            <a:ext cx="162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验收 / 应收账款</a:t>
            </a:r>
            <a:endParaRPr lang="en-US" sz="1200" noProof="1"/>
          </a:p>
        </p:txBody>
      </p:sp>
      <p:sp>
        <p:nvSpPr>
          <p:cNvPr id="24" name="label-standard"/>
          <p:cNvSpPr txBox="1"/>
          <p:nvPr/>
        </p:nvSpPr>
        <p:spPr>
          <a:xfrm>
            <a:off x="3429000" y="46863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标准碎片化</a:t>
            </a:r>
            <a:endParaRPr lang="en-US" sz="1200" noProof="1"/>
          </a:p>
        </p:txBody>
      </p:sp>
      <p:sp>
        <p:nvSpPr>
          <p:cNvPr id="25" name="label-data"/>
          <p:cNvSpPr txBox="1"/>
          <p:nvPr/>
        </p:nvSpPr>
        <p:spPr>
          <a:xfrm>
            <a:off x="2438400" y="3898900"/>
            <a:ext cx="142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B1F33"/>
                </a:solidFill>
                <a:latin typeface="Microsoft YaHei"/>
                <a:ea typeface="Microsoft YaHei"/>
              </a:rPr>
              <a:t>数据与安全</a:t>
            </a:r>
            <a:endParaRPr lang="en-US" sz="1200" noProof="1"/>
          </a:p>
        </p:txBody>
      </p:sp>
      <p:sp>
        <p:nvSpPr>
          <p:cNvPr id="26" name="y-label"/>
          <p:cNvSpPr txBox="1"/>
          <p:nvPr/>
        </p:nvSpPr>
        <p:spPr>
          <a:xfrm rot="16200000">
            <a:off x="228600" y="3022600"/>
            <a:ext cx="4318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5A6B7A"/>
                </a:solidFill>
                <a:latin typeface="Microsoft YaHei"/>
                <a:ea typeface="Microsoft YaHei"/>
              </a:rPr>
              <a:t>潜在影响 →</a:t>
            </a:r>
            <a:endParaRPr lang="en-US" sz="1300" noProof="1"/>
          </a:p>
        </p:txBody>
      </p:sp>
      <p:sp>
        <p:nvSpPr>
          <p:cNvPr id="27" name="x-label"/>
          <p:cNvSpPr txBox="1"/>
          <p:nvPr/>
        </p:nvSpPr>
        <p:spPr>
          <a:xfrm>
            <a:off x="3302000" y="58547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5A6B7A"/>
                </a:solidFill>
                <a:latin typeface="Microsoft YaHei"/>
                <a:ea typeface="Microsoft YaHei"/>
              </a:rPr>
              <a:t>发生可能性 →</a:t>
            </a:r>
            <a:endParaRPr lang="en-US" sz="1300" noProof="1"/>
          </a:p>
        </p:txBody>
      </p:sp>
      <p:sp>
        <p:nvSpPr>
          <p:cNvPr id="28" name="right-divider"/>
          <p:cNvSpPr/>
          <p:nvPr/>
        </p:nvSpPr>
        <p:spPr>
          <a:xfrm>
            <a:off x="8585200" y="1676400"/>
            <a:ext cx="12700" cy="44196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29" name="counter-head"/>
          <p:cNvSpPr txBox="1"/>
          <p:nvPr/>
        </p:nvSpPr>
        <p:spPr>
          <a:xfrm>
            <a:off x="9017000" y="17780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800" noProof="1" b="1">
                <a:solidFill>
                  <a:srgbClr val="0B1F33"/>
                </a:solidFill>
                <a:latin typeface="Microsoft YaHei"/>
                <a:ea typeface="Microsoft YaHei"/>
              </a:rPr>
              <a:t>三条反方观点</a:t>
            </a:r>
            <a:endParaRPr lang="en-US" sz="1800" noProof="1"/>
          </a:p>
        </p:txBody>
      </p:sp>
      <p:sp>
        <p:nvSpPr>
          <p:cNvPr id="30" name="counter-1"/>
          <p:cNvSpPr txBox="1"/>
          <p:nvPr/>
        </p:nvSpPr>
        <p:spPr>
          <a:xfrm>
            <a:off x="9017000" y="2374900"/>
            <a:ext cx="2489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01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智算增长不必然带来全产业利润同比例增长。</a:t>
            </a:r>
            <a:endParaRPr lang="en-US" sz="1600" noProof="1"/>
          </a:p>
        </p:txBody>
      </p:sp>
      <p:sp>
        <p:nvSpPr>
          <p:cNvPr id="31" name="counter-2"/>
          <p:cNvSpPr txBox="1"/>
          <p:nvPr/>
        </p:nvSpPr>
        <p:spPr>
          <a:xfrm>
            <a:off x="9017000" y="3632200"/>
            <a:ext cx="2489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02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全国上架率改善会掩盖区域与架构错配。</a:t>
            </a:r>
            <a:endParaRPr lang="en-US" sz="1600" noProof="1"/>
          </a:p>
        </p:txBody>
      </p:sp>
      <p:sp>
        <p:nvSpPr>
          <p:cNvPr id="32" name="counter-3"/>
          <p:cNvSpPr txBox="1"/>
          <p:nvPr/>
        </p:nvSpPr>
        <p:spPr>
          <a:xfrm>
            <a:off x="9017000" y="4889500"/>
            <a:ext cx="2489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03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000000"/>
                </a:solidFill>
                <a:latin typeface="MiSans"/>
                <a:ea typeface="MiSans"/>
              </a:rPr>
              <a:t>西部低电价不是护城河，客户与网络同样必要。</a:t>
            </a:r>
            <a:endParaRPr lang="en-US" sz="1600" noProof="1"/>
          </a:p>
        </p:txBody>
      </p:sp>
      <p:sp>
        <p:nvSpPr>
          <p:cNvPr id="33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注：风险位置为定性研究判断；应以同口径利用率、合同、现金流、交付和应用付费持续验证。</a:t>
            </a:r>
            <a:endParaRPr lang="en-US" sz="900" noProof="1"/>
          </a:p>
        </p:txBody>
      </p:sp>
      <p:sp>
        <p:nvSpPr>
          <p:cNvPr id="34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14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25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150" kern="0">
                <a:solidFill>
                  <a:srgbClr val="1769AA"/>
                </a:solidFill>
                <a:latin typeface="Microsoft YaHei"/>
                <a:ea typeface="Microsoft YaHei"/>
              </a:rPr>
              <a:t>FINAL JUDGMENT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85800" y="533400"/>
            <a:ext cx="107950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05000"/>
              </a:lnSpc>
            </a:pPr>
            <a:r>
              <a:rPr lang="en-US" sz="3600" noProof="1" b="1">
                <a:solidFill>
                  <a:srgbClr val="0B1F33"/>
                </a:solidFill>
                <a:latin typeface="Microsoft YaHei"/>
                <a:ea typeface="Microsoft YaHei"/>
              </a:rPr>
              <a:t>研究重点应从规划P值转向有效、可调度与可付费</a:t>
            </a:r>
            <a:endParaRPr lang="en-US" sz="3600" noProof="1"/>
          </a:p>
        </p:txBody>
      </p:sp>
      <p:sp>
        <p:nvSpPr>
          <p:cNvPr id="5" name="title-rule"/>
          <p:cNvSpPr/>
          <p:nvPr/>
        </p:nvSpPr>
        <p:spPr>
          <a:xfrm>
            <a:off x="685800" y="12700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6" name="thesis"/>
          <p:cNvSpPr txBox="1"/>
          <p:nvPr/>
        </p:nvSpPr>
        <p:spPr>
          <a:xfrm>
            <a:off x="685800" y="1511300"/>
            <a:ext cx="10820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 b="1">
                <a:solidFill>
                  <a:srgbClr val="0B1F33"/>
                </a:solidFill>
                <a:latin typeface="Microsoft YaHei"/>
                <a:ea typeface="Microsoft YaHei"/>
              </a:rPr>
              <a:t>真正的回报来自一套能够稳定运行、跨域调用，并嵌入付费工作流的算力系统。</a:t>
            </a:r>
            <a:endParaRPr lang="en-US" sz="1900" noProof="1"/>
          </a:p>
        </p:txBody>
      </p:sp>
      <p:sp>
        <p:nvSpPr>
          <p:cNvPr id="7" name="step-arrow-1"/>
          <p:cNvSpPr/>
          <p:nvPr>
            <p:extLst>
              <p:ext uri="{F5677B7D-0D2A-4D9B-9A5C-6D8D7D0E5A5D}">
                <pptd:line encoding="base64url">eyJ2aWV3Qm94IjpbNjQsMV0sInBvaW50cyI6IjAsMCA2NCwwIn0</pptd:line>
              </p:ext>
            </p:extLst>
          </p:nvPr>
        </p:nvSpPr>
        <p:spPr>
          <a:xfrm>
            <a:off x="3517900" y="4483100"/>
            <a:ext cx="812800" cy="12700"/>
          </a:xfrm>
          <a:custGeom>
            <a:avLst/>
            <a:gdLst/>
            <a:ahLst/>
            <a:cxnLst/>
            <a:rect l="l" t="t" r="r" b="b"/>
            <a:pathLst>
              <a:path w="64" h="1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8" name="step-arrow-2"/>
          <p:cNvSpPr/>
          <p:nvPr>
            <p:extLst>
              <p:ext uri="{F5677B7D-0D2A-4D9B-9A5C-6D8D7D0E5A5D}">
                <pptd:line encoding="base64url">eyJ2aWV3Qm94IjpbNjQsMV0sInBvaW50cyI6IjAsMCA2NCwwIn0</pptd:line>
              </p:ext>
            </p:extLst>
          </p:nvPr>
        </p:nvSpPr>
        <p:spPr>
          <a:xfrm>
            <a:off x="6845300" y="3530600"/>
            <a:ext cx="812800" cy="12700"/>
          </a:xfrm>
          <a:custGeom>
            <a:avLst/>
            <a:gdLst/>
            <a:ahLst/>
            <a:cxnLst/>
            <a:rect l="l" t="t" r="r" b="b"/>
            <a:pathLst>
              <a:path w="64" h="1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25400" cap="rnd">
            <a:solidFill>
              <a:srgbClr val="4E8FBD"/>
            </a:solidFill>
            <a:round/>
            <a:tailEnd type="stealth"/>
          </a:ln>
        </p:spPr>
      </p:sp>
      <p:sp>
        <p:nvSpPr>
          <p:cNvPr id="9" name="step-1"/>
          <p:cNvSpPr/>
          <p:nvPr/>
        </p:nvSpPr>
        <p:spPr>
          <a:xfrm>
            <a:off x="685800" y="4013200"/>
            <a:ext cx="2832100" cy="14224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10" name="step-2"/>
          <p:cNvSpPr/>
          <p:nvPr/>
        </p:nvSpPr>
        <p:spPr>
          <a:xfrm>
            <a:off x="4330700" y="3060700"/>
            <a:ext cx="2514600" cy="1422400"/>
          </a:xfrm>
          <a:prstGeom prst="rect">
            <a:avLst/>
          </a:prstGeom>
          <a:solidFill>
            <a:srgbClr val="1769AA"/>
          </a:solidFill>
          <a:ln>
            <a:noFill/>
          </a:ln>
        </p:spPr>
      </p:sp>
      <p:sp>
        <p:nvSpPr>
          <p:cNvPr id="11" name="step-3"/>
          <p:cNvSpPr/>
          <p:nvPr/>
        </p:nvSpPr>
        <p:spPr>
          <a:xfrm>
            <a:off x="7658100" y="2108200"/>
            <a:ext cx="3848100" cy="1422400"/>
          </a:xfrm>
          <a:prstGeom prst="rect">
            <a:avLst/>
          </a:prstGeom>
          <a:solidFill>
            <a:srgbClr val="4E8FBD"/>
          </a:solidFill>
          <a:ln>
            <a:noFill/>
          </a:ln>
        </p:spPr>
      </p:sp>
      <p:sp>
        <p:nvSpPr>
          <p:cNvPr id="12" name="step-1t"/>
          <p:cNvSpPr txBox="1"/>
          <p:nvPr/>
        </p:nvSpPr>
        <p:spPr>
          <a:xfrm>
            <a:off x="838200" y="4216400"/>
            <a:ext cx="26035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9BC2DD"/>
                </a:solidFill>
                <a:latin typeface="MiSans"/>
                <a:ea typeface="MiSans"/>
              </a:rPr>
              <a:t>01｜有效算力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芯·存·网·电·冷·软</a:t>
            </a:r>
            <a:endParaRPr lang="en-US" sz="1600" noProof="1"/>
          </a:p>
        </p:txBody>
      </p:sp>
      <p:sp>
        <p:nvSpPr>
          <p:cNvPr id="13" name="step-2t"/>
          <p:cNvSpPr txBox="1"/>
          <p:nvPr/>
        </p:nvSpPr>
        <p:spPr>
          <a:xfrm>
            <a:off x="4559300" y="3263900"/>
            <a:ext cx="2057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D8E8F2"/>
                </a:solidFill>
                <a:latin typeface="MiSans"/>
                <a:ea typeface="MiSans"/>
              </a:rPr>
              <a:t>02｜可调度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标识 · 计量 · 结算 · SLA</a:t>
            </a:r>
            <a:endParaRPr lang="en-US" sz="1600" noProof="1"/>
          </a:p>
        </p:txBody>
      </p:sp>
      <p:sp>
        <p:nvSpPr>
          <p:cNvPr id="14" name="step-3t"/>
          <p:cNvSpPr txBox="1"/>
          <p:nvPr/>
        </p:nvSpPr>
        <p:spPr>
          <a:xfrm>
            <a:off x="7912100" y="2311400"/>
            <a:ext cx="33401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EAF2F8"/>
                </a:solidFill>
                <a:latin typeface="MiSans"/>
                <a:ea typeface="MiSans"/>
              </a:rPr>
              <a:t>03｜可付费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续约 · Token/API · 行业ROI</a:t>
            </a:r>
            <a:endParaRPr lang="en-US" sz="1600" noProof="1"/>
          </a:p>
        </p:txBody>
      </p:sp>
      <p:sp>
        <p:nvSpPr>
          <p:cNvPr id="15" name="watch-rule"/>
          <p:cNvSpPr/>
          <p:nvPr/>
        </p:nvSpPr>
        <p:spPr>
          <a:xfrm>
            <a:off x="685800" y="5740400"/>
            <a:ext cx="10820400" cy="12700"/>
          </a:xfrm>
          <a:prstGeom prst="rect">
            <a:avLst/>
          </a:prstGeom>
          <a:solidFill>
            <a:srgbClr val="D9E1E8"/>
          </a:solidFill>
          <a:ln>
            <a:noFill/>
          </a:ln>
        </p:spPr>
      </p:sp>
      <p:sp>
        <p:nvSpPr>
          <p:cNvPr id="16" name="watch-head"/>
          <p:cNvSpPr txBox="1"/>
          <p:nvPr/>
        </p:nvSpPr>
        <p:spPr>
          <a:xfrm>
            <a:off x="685800" y="59055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69AA"/>
                </a:solidFill>
                <a:latin typeface="Microsoft YaHei"/>
                <a:ea typeface="Microsoft YaHei"/>
              </a:rPr>
              <a:t>季度领先指标</a:t>
            </a:r>
            <a:endParaRPr lang="en-US" sz="1300" noProof="1"/>
          </a:p>
        </p:txBody>
      </p:sp>
      <p:sp>
        <p:nvSpPr>
          <p:cNvPr id="17" name="watch-items"/>
          <p:cNvSpPr txBox="1"/>
          <p:nvPr/>
        </p:nvSpPr>
        <p:spPr>
          <a:xfrm>
            <a:off x="2463800" y="5867400"/>
            <a:ext cx="904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0B1F33"/>
                </a:solidFill>
                <a:latin typeface="Microsoft YaHei"/>
                <a:ea typeface="Microsoft YaHei"/>
              </a:rPr>
              <a:t>需求｜供给｜利用｜网络｜能源｜现金流</a:t>
            </a:r>
            <a:endParaRPr lang="en-US" sz="1400" noProof="1"/>
          </a:p>
        </p:txBody>
      </p:sp>
      <p:sp>
        <p:nvSpPr>
          <p:cNvPr id="18" name="source"/>
          <p:cNvSpPr txBox="1"/>
          <p:nvPr/>
        </p:nvSpPr>
        <p:spPr>
          <a:xfrm>
            <a:off x="685800" y="64389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结论基于截至2026-08-09的公开政策、行业数据与招投标样本；不构成投资建议。</a:t>
            </a:r>
            <a:endParaRPr lang="en-US" sz="900" noProof="1"/>
          </a:p>
        </p:txBody>
      </p:sp>
      <p:sp>
        <p:nvSpPr>
          <p:cNvPr id="19" name="page-no"/>
          <p:cNvSpPr txBox="1"/>
          <p:nvPr/>
        </p:nvSpPr>
        <p:spPr>
          <a:xfrm>
            <a:off x="11328400" y="6438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900" noProof="1">
                <a:solidFill>
                  <a:srgbClr val="5A6B7A"/>
                </a:solidFill>
                <a:latin typeface="Microsoft YaHei"/>
                <a:ea typeface="Microsoft YaHei"/>
              </a:rPr>
              <a:t>15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15</Slides>
</Properties>
</file>

<file path=docProps/core.xml><?xml version="1.0" encoding="utf-8"?>
<cp:coreProperties xmlns:dc="http://purl.org/dc/elements/1.1/" xmlns:cp="http://schemas.openxmlformats.org/package/2006/metadata/core-properties">
  <dc:title>中国算力产业链与招投标信号</dc:title>
  <dc:subject>中国算力产业链与招投标信号</dc:subject>
  <dc:creator>Kimi</dc:creato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>{"Label":"中国算力产业链与招投标信号","ContentProducer":"001191110108MACG2KBH8F10000","ProduceID":"local-export-98f643160d2149c5beb33dd0a5a73849","ReservedCode1":"","ContentPropagator":"001191110108MACG2KBH8F20000","PropagateID":"","ReservedCode2":""}</vt:lpwstr>
  </property>
</Properties>
</file>